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7" r:id="rId18"/>
    <p:sldId id="259" r:id="rId5"/>
    <p:sldId id="260" r:id="rId6"/>
    <p:sldId id="261" r:id="rId7"/>
    <p:sldId id="262" r:id="rId8"/>
    <p:sldId id="263" r:id="rId9"/>
    <p:sldId id="268" r:id="rId19"/>
    <p:sldId id="269" r:id="rId20"/>
    <p:sldId id="270" r:id="rId21"/>
    <p:sldId id="271" r:id="rId22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مقدمة" id="{e921d7b4-95ec-3cc4-0b3b-e41d594cdf54}">
          <p14:sldIdLst>
            <p14:sldId id="256"/>
            <p14:sldId id="257"/>
          </p14:sldIdLst>
        </p14:section>
        <p14:section name="قاعدة البيانات" id="{ea1b6750-70c9-736b-9bea-ee2d2ca803b2}">
          <p14:sldIdLst>
            <p14:sldId id="258"/>
            <p14:sldId id="259"/>
            <p14:sldId id="260"/>
            <p14:sldId id="261"/>
          </p14:sldIdLst>
        </p14:section>
        <p14:section name="التطبيق والموقع" id="{2859f87f-446e-5b53-e584-de3d9ba884bc}">
          <p14:sldIdLst>
            <p14:sldId id="262"/>
            <p14:sldId id="263"/>
          </p14:sldIdLst>
        </p14:section>
        <p14:section name="الختام" id="{8b206a72-4c64-15ee-e5a6-a990ff107a48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4.xml"/><Relationship Id="rId11" Type="http://schemas.openxmlformats.org/officeDocument/2006/relationships/slide" Target="slides/slide15.xml"/><Relationship Id="rId12" Type="http://schemas.openxmlformats.org/officeDocument/2006/relationships/slide" Target="slides/slide16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4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عين الحملة منصة لإدارة حملات الحج: تطبيق للحاج والمشرف، ولوحة تحكم للإدارة ومركز العمليات، وكلها تقرأ وتكتب من قاعدة واحدة على Supabase. الإصدار 4 أضاف مميزات الحج: المتابعة الذكية، وحدود المشاعر، والصحة، والأهل والرسائل المترجمة، وصفحة «حجّي».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كل محور يقابله جداول في القاعدة وشاشات في التطبيق ولوحة التحكم. هذا هو أساس التكافؤ بين البطاقة والتطبيق والموقع والقاعدة.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الجداول الأساسية الـ21 من الإصدار 2.1. الجداول الـ17 الجديدة في الشريحة التالية، والمخطط الكامل للـ38 في ملف ERD الجديد وفي schema.dbml.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أبرز قيدين جديدين: الأولوية التلقائية للحاج كبير السن أو صاحب الحالة الصحية، وأن التطبيق لا يكتب على الجداول مباشرة، بل عبر دوال تتحقق من صلاحية المستخدم.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الأرقام محسوبة من القاعدة الحية نفسها بعد تشغيل الملفات 01 إلى 13 بالترتيب: 106 فهرس، 21 نوع ENUM، RLS على 38 جدولاً، 76 دالة app_*، و5 مُشغِّلات.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يمكن فتح Supabase أمام المشرفة وعرض الجداول والبيانات حيًا، ثم فتح الموقع والتطبيق لتبيين أن الشاشات تقرأ من نفس الجداول.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رد على ملاحظة المشرفة بتكييف الواجهات حسب نوع المستخدم: نفس الحساب يفتح واجهة مختلفة حسب دوره، والبيانات كلها من استعلامات حقيقية.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المواقع الحية للآخرين تحتاج إنترنت، لكن الحاج يشوف آخر موقع معروف لمشرفه ومركز مجموعته، ويقدر يتصل بمشرفه من بطاقة الطوارئ المحفوظة.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حسابات التجربة كلها بكلمة المرور Demo@1234، ومذكورة في ملف اقرأني.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كانت الخطوات القادمة في العرض السابق: ربط القاعدة الحقيقية ومميزات الحج، وتمت الآن. الباقي: نسخة الجوال، والمصادقة الرسمية، والبث اللحظي، والحدود الرسمية للمشاعر.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أُضيفت 17 جدولاً في 4 مجموعات دون تغيير الجداول الأساسية، إلا عمودين: meeting_point_id في التنبيهات، وallergies في الحجاج لبطاقة المسعف.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كل ميزة من الثماني موجودة في القاعدة ولها دالة، وتظهر في اللوحة أو التطبيق أو كليهما. مصفوفة التكافؤ تربط كل ميزة بجدولها ودالتها وشاشتها.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للعرض الحي: افتح اللوحة بحساب الإدارة، ثم المتابعة الذكية، وشغّل «سيناريو منى»، فتظهر التنبيهات ودرجات الخطر فورًا.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صفحة «حجّي» تعرف يوم الحج من التاريخ الهجري، وتعرض الدليل بلغة الحاج. الصلاة والقبلة تُحسب على الجوال، والعدّاد والأدوية والرسائل تُحفظ في القاعدة.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54 اختبار واجهة آلي نجحت كلها على نسخة مطابقة للقاعدة، ثم جُرّبت الميزات يدويًا على القاعدة الحية والموقع المنشور ain-alhamla2.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2800" b="1" dirty="0">
                <a:solidFill>
                  <a:srgbClr val="12332A"/>
                </a:solidFill>
              </a:defRPr>
            </a:lvl1pPr>
          </a:lstStyle>
          <a:p>
            <a:pPr algn="r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1300" dirty="0">
                <a:solidFill>
                  <a:srgbClr val="5B564C"/>
                </a:solidFill>
              </a:defRPr>
            </a:lvl1pPr>
          </a:lstStyle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64C"/>
                </a:solidFill>
              </a:rPr>
              <a:t>عين الحملة  |  الإصدار 4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56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3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2800" b="1" dirty="0">
                <a:solidFill>
                  <a:srgbClr val="FFFFFF"/>
                </a:solidFill>
              </a:defRPr>
            </a:lvl1pPr>
          </a:lstStyle>
          <a:p>
            <a:pPr algn="r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1300" dirty="0">
                <a:solidFill>
                  <a:srgbClr val="B9C2B6"/>
                </a:solidFill>
              </a:defRPr>
            </a:lvl1pPr>
          </a:lstStyle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C2B6"/>
                </a:solidFill>
              </a:rPr>
              <a:t>عين الحملة  |  الإصدار 4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C2B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23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56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N1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N1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N1" Type="http://schemas.openxmlformats.org/officeDocument/2006/relationships/notesSlide" Target="../notesSlides/notesSlide14.xml"/><Relationship Id="rIdV4a" Type="http://schemas.openxmlformats.org/officeDocument/2006/relationships/image" Target="../media/v4_dash_smart.png"/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N1" Type="http://schemas.openxmlformats.org/officeDocument/2006/relationships/notesSlide" Target="../notesSlides/notesSlide15.xml"/><Relationship Id="rIdV4b" Type="http://schemas.openxmlformats.org/officeDocument/2006/relationships/image" Target="../media/v4_app_top.png"/><Relationship Id="rIdV4c" Type="http://schemas.openxmlformats.org/officeDocument/2006/relationships/image" Target="../media/v4_app_counters.png"/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N1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737360" cy="1737360"/>
          </a:xfrm>
          <a:prstGeom prst="ellipse">
            <a:avLst/>
          </a:prstGeom>
          <a:ln w="15875">
            <a:solidFill>
              <a:srgbClr val="C9A24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502920"/>
            <a:ext cx="1005840" cy="1005840"/>
          </a:xfrm>
          <a:prstGeom prst="ellipse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692640" y="4754880"/>
            <a:ext cx="3108960" cy="3108960"/>
          </a:xfrm>
          <a:prstGeom prst="ellipse">
            <a:avLst/>
          </a:prstGeom>
          <a:ln w="15875">
            <a:solidFill>
              <a:srgbClr val="C9A24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3931920" y="21031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عين الحملة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31089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C9A24A"/>
                </a:solidFill>
              </a:rPr>
              <a:t>العرض التقني  —  قاعدة البيانات والتطبيق  (الإصدار 4  —  مميزات الحج)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3703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B9C2B6"/>
                </a:solidFill>
              </a:rPr>
              <a:t>منظومة ذكية تتابع حضور أفراد الحملة وتحميهم من الانفصال.. حضورهم تحت نظرك في كل لحظة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5943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C9A24A"/>
                </a:solidFill>
              </a:rPr>
              <a:t>منشورة وتعمل فعليًا على Supabase‏   ·   38 جدولاً   ·   تطبيق وموقع ولوحة تحكم متصلة بنفس القاعدة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2332A"/>
                </a:solidFill>
              </a:rPr>
              <a:t>خمسة محاور وظيفية  —  لماذا هذا التصميم؟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B564C"/>
                </a:solidFill>
              </a:rPr>
              <a:t>قاعدة البيانات مبنية لتخدم خمس وظائف رئيسية في التطبيق والموقع مباشرة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744200" y="1801368"/>
            <a:ext cx="512064" cy="512064"/>
          </a:xfrm>
          <a:prstGeom prst="ellipse">
            <a:avLst/>
          </a:prstGeom>
          <a:solidFill>
            <a:srgbClr val="12332A"/>
          </a:solidFill>
          <a:ln w="12700">
            <a:solidFill>
              <a:srgbClr val="12332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744200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09928"/>
            <a:ext cx="9281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1B16"/>
                </a:solidFill>
              </a:rPr>
              <a:t>الهوية والتحكم بالوصول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075688"/>
            <a:ext cx="9281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B564C"/>
                </a:solidFill>
              </a:rPr>
              <a:t>4 أدوار (حاج، مشرف، إدارة، مركز عمليات)، ملف طبي وجهات طوارئ لكل حاج، وجلسات دخول آمنة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64240" cy="0"/>
          </a:xfrm>
          <a:prstGeom prst="line">
            <a:avLst/>
          </a:prstGeom>
          <a:noFill/>
          <a:ln w="9525">
            <a:solidFill>
              <a:srgbClr val="E4DCC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0744200" y="2715768"/>
            <a:ext cx="512064" cy="512064"/>
          </a:xfrm>
          <a:prstGeom prst="ellipse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0744200" y="2715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624328"/>
            <a:ext cx="9281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1B16"/>
                </a:solidFill>
              </a:rPr>
              <a:t>الحملة والمناسك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990088"/>
            <a:ext cx="9281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B564C"/>
                </a:solidFill>
              </a:rPr>
              <a:t>أفواج بسعة لا يتجاوزها النظام، و8 مناسك بترتيبها الشرعي من يوم التروية إلى طواف الوداع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1064240" cy="0"/>
          </a:xfrm>
          <a:prstGeom prst="line">
            <a:avLst/>
          </a:prstGeom>
          <a:noFill/>
          <a:ln w="9525">
            <a:solidFill>
              <a:srgbClr val="E4DCC8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744200" y="3630168"/>
            <a:ext cx="512064" cy="512064"/>
          </a:xfrm>
          <a:prstGeom prst="ellipse">
            <a:avLst/>
          </a:prstGeom>
          <a:solidFill>
            <a:srgbClr val="12332A"/>
          </a:solidFill>
          <a:ln w="12700">
            <a:solidFill>
              <a:srgbClr val="12332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744200" y="3630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538728"/>
            <a:ext cx="9281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1B16"/>
                </a:solidFill>
              </a:rPr>
              <a:t>التتبع والتجمعات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904488"/>
            <a:ext cx="9281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B564C"/>
                </a:solidFill>
              </a:rPr>
              <a:t>حضور بالتطبيق عند نقاط التجمع، وGPS داخل نطاقات آمنة، وتسجيل يدوي من المشرف — بدون أي جهاز خارجي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11064240" cy="0"/>
          </a:xfrm>
          <a:prstGeom prst="line">
            <a:avLst/>
          </a:prstGeom>
          <a:noFill/>
          <a:ln w="9525">
            <a:solidFill>
              <a:srgbClr val="E4DCC8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744200" y="4544568"/>
            <a:ext cx="512064" cy="512064"/>
          </a:xfrm>
          <a:prstGeom prst="ellipse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10744200" y="4544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453128"/>
            <a:ext cx="9281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1B16"/>
                </a:solidFill>
              </a:rPr>
              <a:t>التنقلات بين المشاعر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818888"/>
            <a:ext cx="9281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B564C"/>
                </a:solidFill>
              </a:rPr>
              <a:t>رحلات الحافلات وحالتها، والرحلة الواحدة قد تخدم أكثر من فوج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257800"/>
            <a:ext cx="11064240" cy="0"/>
          </a:xfrm>
          <a:prstGeom prst="line">
            <a:avLst/>
          </a:prstGeom>
          <a:noFill/>
          <a:ln w="9525">
            <a:solidFill>
              <a:srgbClr val="E4DCC8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744200" y="5458968"/>
            <a:ext cx="512064" cy="512064"/>
          </a:xfrm>
          <a:prstGeom prst="ellipse">
            <a:avLst/>
          </a:prstGeom>
          <a:solidFill>
            <a:srgbClr val="B23B2E"/>
          </a:solidFill>
          <a:ln w="12700">
            <a:solidFill>
              <a:srgbClr val="B23B2E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10744200" y="5458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5367528"/>
            <a:ext cx="9281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1B16"/>
                </a:solidFill>
              </a:rPr>
              <a:t>السلامة والتواصل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5733288"/>
            <a:ext cx="9281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B564C"/>
                </a:solidFill>
              </a:rPr>
              <a:t>تنبيهات الغياب والتأخر والخروج من النطاق و«أنا تائه»، وبلاغات SOS، وإشعارات وتعميمات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56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-32004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EEF3EE"/>
                </a:solidFill>
              </a:rPr>
              <a:t>38</a:t>
            </a:r>
            <a:endParaRPr lang="en-US" sz="15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2332A"/>
                </a:solidFill>
              </a:rPr>
              <a:t>بنية قاعدة البيانات</a:t>
            </a:r>
            <a:endParaRPr lang="en-US" sz="2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B564C"/>
                </a:solidFill>
              </a:rPr>
              <a:t>38 جدولاً: 21 أساسية في 5 مجموعات (هنا)، و17 جديدة لمميزات الحج في 4 مجموعات (الشريحة التالية)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38160" y="169164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366760" y="1874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E1B16"/>
                </a:solidFill>
              </a:rPr>
              <a:t>1  —  الهوية والمستخدمون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366760" y="1874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564C"/>
                </a:solidFill>
              </a:rPr>
              <a:t>٥ جداول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366760" y="24688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  ·  pilgrims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supervisors  ·  app_sessions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emergency_contacts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169164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AF3DE"/>
          </a:solidFill>
          <a:ln w="12700">
            <a:solidFill>
              <a:srgbClr val="FAF3D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663440" y="1874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E1B16"/>
                </a:solidFill>
              </a:rPr>
              <a:t>2  —  الحملة والمناسك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874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564C"/>
                </a:solidFill>
              </a:rPr>
              <a:t>٣ جداول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4688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campaigns  ·  groups  ·  rituals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691640"/>
            <a:ext cx="3657600" cy="2011680"/>
          </a:xfrm>
          <a:prstGeom prst="roundRect">
            <a:avLst>
              <a:gd name="adj" fmla="val 5455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7724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E1B16"/>
                </a:solidFill>
              </a:rPr>
              <a:t>3  —  التتبع والتنقلات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1874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564C"/>
                </a:solidFill>
              </a:rPr>
              <a:t>٦ جداول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46888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locations  ·  gatherings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  ·  location_pings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trips  ·  trip_groups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393192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AF3DE"/>
          </a:solidFill>
          <a:ln w="12700">
            <a:solidFill>
              <a:srgbClr val="FAF3D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400800" y="41148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E1B16"/>
                </a:solidFill>
              </a:rPr>
              <a:t>4  —  السلامة والتواصل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114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564C"/>
                </a:solidFill>
              </a:rPr>
              <a:t>٤ جداول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47091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alerts  ·  sos_requests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  ·  broadcasts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777240" y="4114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E1B16"/>
                </a:solidFill>
              </a:rPr>
              <a:t>5  —  الإشراف والتقارير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114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564C"/>
                </a:solidFill>
              </a:rPr>
              <a:t>٣ جداول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7091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ritual_reports  ·  comments  ·  activity_log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56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-32004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EEF3EE"/>
                </a:solidFill>
              </a:rPr>
              <a:t>17</a:t>
            </a:r>
            <a:endParaRPr lang="en-US" sz="15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2332A"/>
                </a:solidFill>
              </a:rPr>
              <a:t>الجداول الجديدة لمميزات الحج</a:t>
            </a:r>
            <a:endParaRPr lang="en-US" sz="2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B564C"/>
                </a:solidFill>
              </a:rPr>
              <a:t>17 جدولاً أُضيفت في الإصدارين 3 و4 دون المساس بالجداول الأساسية (عمودان جديدان فقط: alerts.meeting_point_id و pilgrims.allergies)</a:t>
            </a:r>
            <a:endParaRPr lang="en-US" sz="1300" dirty="0"/>
          </a:p>
        </p:txBody>
      </p:sp>
      <p:sp>
        <p:nvSpPr>
          <p:cNvPr id="501" name="Shape 501"/>
          <p:cNvSpPr/>
          <p:nvPr/>
        </p:nvSpPr>
        <p:spPr>
          <a:xfrm>
            <a:off x="6172200" y="169164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AF3DE"/>
          </a:solidFill>
          <a:ln w="12700">
            <a:solidFill>
              <a:srgbClr val="FAF3DE"/>
            </a:solidFill>
          </a:ln>
        </p:spPr>
        <p:txBody>
          <a:bodyPr/>
          <a:p/>
        </p:txBody>
      </p:sp>
      <p:sp>
        <p:nvSpPr>
          <p:cNvPr id="502" name="Text 502"/>
          <p:cNvSpPr txBox="1"/>
          <p:nvPr/>
        </p:nvSpPr>
        <p:spPr>
          <a:xfrm>
            <a:off x="6400800" y="18745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500" b="1" dirty="0">
                <a:solidFill>
                  <a:srgbClr val="1E1B16"/>
                </a:solidFill>
              </a:rPr>
              <a:t>6  —  المتابعة الذكية</a:t>
            </a:r>
            <a:endParaRPr lang="en-US" sz="1500" dirty="0"/>
          </a:p>
        </p:txBody>
      </p:sp>
      <p:sp>
        <p:nvSpPr>
          <p:cNvPr id="503" name="Text 503"/>
          <p:cNvSpPr txBox="1"/>
          <p:nvPr/>
        </p:nvSpPr>
        <p:spPr>
          <a:xfrm>
            <a:off x="6400800" y="1874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sz="1100" b="1" dirty="0">
                <a:solidFill>
                  <a:srgbClr val="B5761E"/>
                </a:solidFill>
              </a:rPr>
              <a:t>٤ جداول</a:t>
            </a:r>
            <a:endParaRPr lang="en-US" sz="1100" dirty="0"/>
          </a:p>
        </p:txBody>
      </p:sp>
      <p:sp>
        <p:nvSpPr>
          <p:cNvPr id="504" name="Text 504"/>
          <p:cNvSpPr txBox="1"/>
          <p:nvPr/>
        </p:nvSpPr>
        <p:spPr>
          <a:xfrm>
            <a:off x="6400800" y="246888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ar-SA" sz="11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buddy_pairs  ·  meeting_points</a:t>
            </a:r>
            <a:endParaRPr lang="en-US" sz="1100" dirty="0"/>
          </a:p>
          <a:p>
            <a:pPr algn="r" indent="0" marL="0">
              <a:buNone/>
            </a:pPr>
            <a:r>
              <a:rPr lang="ar-SA" sz="11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heat_readings  ·  crowd_forecasts</a:t>
            </a:r>
            <a:endParaRPr lang="en-US" sz="1100" dirty="0"/>
          </a:p>
        </p:txBody>
      </p:sp>
      <p:sp>
        <p:nvSpPr>
          <p:cNvPr id="505" name="Shape 505"/>
          <p:cNvSpPr/>
          <p:nvPr/>
        </p:nvSpPr>
        <p:spPr>
          <a:xfrm>
            <a:off x="548640" y="169164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EEF3EE"/>
          </a:solidFill>
          <a:ln w="12700">
            <a:solidFill>
              <a:srgbClr val="EEF3EE"/>
            </a:solidFill>
          </a:ln>
        </p:spPr>
        <p:txBody>
          <a:bodyPr/>
          <a:p/>
        </p:txBody>
      </p:sp>
      <p:sp>
        <p:nvSpPr>
          <p:cNvPr id="506" name="Text 506"/>
          <p:cNvSpPr txBox="1"/>
          <p:nvPr/>
        </p:nvSpPr>
        <p:spPr>
          <a:xfrm>
            <a:off x="77724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500" b="1" dirty="0">
                <a:solidFill>
                  <a:srgbClr val="1E1B16"/>
                </a:solidFill>
              </a:rPr>
              <a:t>7  —  حدود المشاعر والصحة</a:t>
            </a:r>
            <a:endParaRPr lang="en-US" sz="1500" dirty="0"/>
          </a:p>
        </p:txBody>
      </p:sp>
      <p:sp>
        <p:nvSpPr>
          <p:cNvPr id="507" name="Text 507"/>
          <p:cNvSpPr txBox="1"/>
          <p:nvPr/>
        </p:nvSpPr>
        <p:spPr>
          <a:xfrm>
            <a:off x="777240" y="1874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sz="1100" b="1" dirty="0">
                <a:solidFill>
                  <a:srgbClr val="B5761E"/>
                </a:solidFill>
              </a:rPr>
              <a:t>٤ جداول</a:t>
            </a:r>
            <a:endParaRPr lang="en-US" sz="1100" dirty="0"/>
          </a:p>
        </p:txBody>
      </p:sp>
      <p:sp>
        <p:nvSpPr>
          <p:cNvPr id="508" name="Text 508"/>
          <p:cNvSpPr txBox="1"/>
          <p:nvPr/>
        </p:nvSpPr>
        <p:spPr>
          <a:xfrm>
            <a:off x="777240" y="246888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ar-SA" sz="11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sacred_sites  ·  medications</a:t>
            </a:r>
            <a:endParaRPr lang="en-US" sz="1100" dirty="0"/>
          </a:p>
          <a:p>
            <a:pPr algn="r" indent="0" marL="0">
              <a:buNone/>
            </a:pPr>
            <a:r>
              <a:rPr lang="ar-SA" sz="11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medication_doses  ·  wellness_checks</a:t>
            </a:r>
            <a:endParaRPr lang="en-US" sz="1100" dirty="0"/>
          </a:p>
        </p:txBody>
      </p:sp>
      <p:sp>
        <p:nvSpPr>
          <p:cNvPr id="509" name="Shape 509"/>
          <p:cNvSpPr/>
          <p:nvPr/>
        </p:nvSpPr>
        <p:spPr>
          <a:xfrm>
            <a:off x="6172200" y="393192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EEF3EE"/>
          </a:solidFill>
          <a:ln w="12700">
            <a:solidFill>
              <a:srgbClr val="EEF3EE"/>
            </a:solidFill>
          </a:ln>
        </p:spPr>
        <p:txBody>
          <a:bodyPr/>
          <a:p/>
        </p:txBody>
      </p:sp>
      <p:sp>
        <p:nvSpPr>
          <p:cNvPr id="510" name="Text 510"/>
          <p:cNvSpPr txBox="1"/>
          <p:nvPr/>
        </p:nvSpPr>
        <p:spPr>
          <a:xfrm>
            <a:off x="6400800" y="41148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500" b="1" dirty="0">
                <a:solidFill>
                  <a:srgbClr val="1E1B16"/>
                </a:solidFill>
              </a:rPr>
              <a:t>8  —  الأهل والرسائل المترجمة</a:t>
            </a:r>
            <a:endParaRPr lang="en-US" sz="1500" dirty="0"/>
          </a:p>
        </p:txBody>
      </p:sp>
      <p:sp>
        <p:nvSpPr>
          <p:cNvPr id="511" name="Text 511"/>
          <p:cNvSpPr txBox="1"/>
          <p:nvPr/>
        </p:nvSpPr>
        <p:spPr>
          <a:xfrm>
            <a:off x="6400800" y="4114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sz="1100" b="1" dirty="0">
                <a:solidFill>
                  <a:srgbClr val="B5761E"/>
                </a:solidFill>
              </a:rPr>
              <a:t>٤ جداول</a:t>
            </a:r>
            <a:endParaRPr lang="en-US" sz="1100" dirty="0"/>
          </a:p>
        </p:txBody>
      </p:sp>
      <p:sp>
        <p:nvSpPr>
          <p:cNvPr id="512" name="Text 512"/>
          <p:cNvSpPr txBox="1"/>
          <p:nvPr/>
        </p:nvSpPr>
        <p:spPr>
          <a:xfrm>
            <a:off x="6400800" y="47091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ar-SA" sz="11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family_links  ·  voice_messages</a:t>
            </a:r>
            <a:endParaRPr lang="en-US" sz="1100" dirty="0"/>
          </a:p>
          <a:p>
            <a:pPr algn="r" indent="0" marL="0">
              <a:buNone/>
            </a:pPr>
            <a:r>
              <a:rPr lang="ar-SA" sz="11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voice_message_translations</a:t>
            </a:r>
            <a:endParaRPr lang="en-US" sz="1100" dirty="0"/>
          </a:p>
          <a:p>
            <a:pPr algn="r" indent="0" marL="0">
              <a:buNone/>
            </a:pPr>
            <a:r>
              <a:rPr lang="ar-SA" sz="11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voice_message_receipts</a:t>
            </a:r>
            <a:endParaRPr lang="en-US" sz="1100" dirty="0"/>
          </a:p>
        </p:txBody>
      </p:sp>
      <p:sp>
        <p:nvSpPr>
          <p:cNvPr id="513" name="Shape 513"/>
          <p:cNvSpPr/>
          <p:nvPr/>
        </p:nvSpPr>
        <p:spPr>
          <a:xfrm>
            <a:off x="548640" y="393192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AF3DE"/>
          </a:solidFill>
          <a:ln w="12700">
            <a:solidFill>
              <a:srgbClr val="FAF3DE"/>
            </a:solidFill>
          </a:ln>
        </p:spPr>
        <p:txBody>
          <a:bodyPr/>
          <a:p/>
        </p:txBody>
      </p:sp>
      <p:sp>
        <p:nvSpPr>
          <p:cNvPr id="514" name="Text 514"/>
          <p:cNvSpPr txBox="1"/>
          <p:nvPr/>
        </p:nvSpPr>
        <p:spPr>
          <a:xfrm>
            <a:off x="777240" y="4114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500" b="1" dirty="0">
                <a:solidFill>
                  <a:srgbClr val="1E1B16"/>
                </a:solidFill>
              </a:rPr>
              <a:t>9  —  التشغيل وأدوات المناسك</a:t>
            </a:r>
            <a:endParaRPr lang="en-US" sz="1500" dirty="0"/>
          </a:p>
        </p:txBody>
      </p:sp>
      <p:sp>
        <p:nvSpPr>
          <p:cNvPr id="515" name="Text 515"/>
          <p:cNvSpPr txBox="1"/>
          <p:nvPr/>
        </p:nvSpPr>
        <p:spPr>
          <a:xfrm>
            <a:off x="777240" y="4114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sz="1100" b="1" dirty="0">
                <a:solidFill>
                  <a:srgbClr val="B5761E"/>
                </a:solidFill>
              </a:rPr>
              <a:t>٥ جداول</a:t>
            </a:r>
            <a:endParaRPr lang="en-US" sz="1100" dirty="0"/>
          </a:p>
        </p:txBody>
      </p:sp>
      <p:sp>
        <p:nvSpPr>
          <p:cNvPr id="516" name="Text 516"/>
          <p:cNvSpPr txBox="1"/>
          <p:nvPr/>
        </p:nvSpPr>
        <p:spPr>
          <a:xfrm>
            <a:off x="777240" y="47091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ar-SA" sz="11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lost_items  ·  prep_tasks  ·  prep_progress</a:t>
            </a:r>
            <a:endParaRPr lang="en-US" sz="1100" dirty="0"/>
          </a:p>
          <a:p>
            <a:pPr algn="r" indent="0" marL="0">
              <a:buNone/>
            </a:pPr>
            <a:r>
              <a:rPr lang="ar-SA" sz="11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ritual_counters  ·  ritual_guides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56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2332A"/>
                </a:solidFill>
              </a:rPr>
              <a:t>علاقات وقيود مطبَّقة فعليًا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B564C"/>
                </a:solidFill>
              </a:rPr>
              <a:t>كل قيد هنا موجود في القاعدة الحية ومُختبر  —  ليس تصميمًا على الورق فقط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172200" y="1691640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064240" y="1956816"/>
            <a:ext cx="384048" cy="384048"/>
          </a:xfrm>
          <a:prstGeom prst="ellipse">
            <a:avLst/>
          </a:prstGeom>
          <a:solidFill>
            <a:srgbClr val="12332A"/>
          </a:solidFill>
          <a:ln w="12700">
            <a:solidFill>
              <a:srgbClr val="12332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106424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78308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E1B16"/>
                </a:solidFill>
              </a:rPr>
              <a:t>علاقة 1:1 بين alerts وsos_requests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40680" y="1956816"/>
            <a:ext cx="384048" cy="384048"/>
          </a:xfrm>
          <a:prstGeom prst="ellipse">
            <a:avLst/>
          </a:prstGeom>
          <a:solidFill>
            <a:srgbClr val="12332A"/>
          </a:solidFill>
          <a:ln w="12700">
            <a:solidFill>
              <a:srgbClr val="12332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4406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178308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E1B16"/>
                </a:solidFill>
              </a:rPr>
              <a:t>قيد CHECK يضمن end_date ≥ start_date لكل حملة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2788920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1064240" y="3054096"/>
            <a:ext cx="384048" cy="384048"/>
          </a:xfrm>
          <a:prstGeom prst="ellipse">
            <a:avLst/>
          </a:prstGeom>
          <a:solidFill>
            <a:srgbClr val="12332A"/>
          </a:solidFill>
          <a:ln w="12700">
            <a:solidFill>
              <a:srgbClr val="12332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11064240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88036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E1B16"/>
                </a:solidFill>
              </a:rPr>
              <a:t>مشرف المجموعة يُربط بجدول supervisors فعليًا، لا بأي مستخدم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440680" y="3054096"/>
            <a:ext cx="384048" cy="384048"/>
          </a:xfrm>
          <a:prstGeom prst="ellipse">
            <a:avLst/>
          </a:prstGeom>
          <a:solidFill>
            <a:srgbClr val="12332A"/>
          </a:solidFill>
          <a:ln w="12700">
            <a:solidFill>
              <a:srgbClr val="12332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5440680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288036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E1B16"/>
                </a:solidFill>
              </a:rPr>
              <a:t>فهرس فريد جزئي: جهة اتصال طارئة رئيسية واحدة فقط لكل حاج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3886200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1064240" y="4151376"/>
            <a:ext cx="384048" cy="384048"/>
          </a:xfrm>
          <a:prstGeom prst="ellipse">
            <a:avLst/>
          </a:prstGeom>
          <a:solidFill>
            <a:srgbClr val="12332A"/>
          </a:solidFill>
          <a:ln w="12700">
            <a:solidFill>
              <a:srgbClr val="12332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1106424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397764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E1B16"/>
                </a:solidFill>
              </a:rPr>
              <a:t>Trigger يمنع تجاوز السعة القصوى للمجموعة تلقائيًا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440680" y="4151376"/>
            <a:ext cx="384048" cy="384048"/>
          </a:xfrm>
          <a:prstGeom prst="ellipse">
            <a:avLst/>
          </a:prstGeom>
          <a:solidFill>
            <a:srgbClr val="12332A"/>
          </a:solidFill>
          <a:ln w="12700">
            <a:solidFill>
              <a:srgbClr val="12332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544068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397764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E1B16"/>
                </a:solidFill>
              </a:rPr>
              <a:t>رحلة واحدة يمكن أن تخدم أكثر من مجموعة معًا (trip_groups)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72200" y="4983480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1064240" y="5248656"/>
            <a:ext cx="384048" cy="384048"/>
          </a:xfrm>
          <a:prstGeom prst="ellipse">
            <a:avLst/>
          </a:prstGeom>
          <a:solidFill>
            <a:srgbClr val="12332A"/>
          </a:solidFill>
          <a:ln w="12700">
            <a:solidFill>
              <a:srgbClr val="12332A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11064240" y="5248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507492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E1B16"/>
                </a:solidFill>
              </a:rPr>
              <a:t>كل كتابة حساسة تمر عبر دوال ‎app_*‎ تتحقق من الجلسة والدور داخل الخادم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4983480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5440680" y="5248656"/>
            <a:ext cx="384048" cy="384048"/>
          </a:xfrm>
          <a:prstGeom prst="ellipse">
            <a:avLst/>
          </a:prstGeom>
          <a:solidFill>
            <a:srgbClr val="12332A"/>
          </a:solidFill>
          <a:ln w="12700">
            <a:solidFill>
              <a:srgbClr val="12332A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5440680" y="5248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" y="507492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E1B16"/>
                </a:solidFill>
              </a:rPr>
              <a:t>Trigger يحسب أولوية الحاج تلقائيًا من العمر والحالة الصحية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56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الأداء وحماية البيانات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B9C2B6"/>
                </a:solidFill>
              </a:rPr>
              <a:t>مبنية لتتحمّل بيانات حقيقية بأعداد كبيرة من الحجاج والمشرفين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546336" y="2194560"/>
            <a:ext cx="2066544" cy="2514600"/>
          </a:xfrm>
          <a:prstGeom prst="roundRect">
            <a:avLst>
              <a:gd name="adj" fmla="val 5310"/>
            </a:avLst>
          </a:prstGeom>
          <a:solidFill>
            <a:srgbClr val="1E4D3D"/>
          </a:solidFill>
          <a:ln w="12700">
            <a:solidFill>
              <a:srgbClr val="1E4D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37776" y="237744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4A"/>
                </a:solidFill>
              </a:rPr>
              <a:t>106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9637776" y="315468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فهرس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83496" y="365760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B9C2B6"/>
                </a:solidFill>
              </a:rPr>
              <a:t>للمفاتيح الأساسية والأجنبية وحالات البحث المتكرر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296912" y="2194560"/>
            <a:ext cx="2066544" cy="2514600"/>
          </a:xfrm>
          <a:prstGeom prst="roundRect">
            <a:avLst>
              <a:gd name="adj" fmla="val 5310"/>
            </a:avLst>
          </a:prstGeom>
          <a:solidFill>
            <a:srgbClr val="1E4D3D"/>
          </a:solidFill>
          <a:ln w="12700">
            <a:solidFill>
              <a:srgbClr val="1E4D3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388352" y="237744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4A"/>
                </a:solidFill>
              </a:rPr>
              <a:t>21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7388352" y="315468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نوع ENUM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434072" y="365760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B9C2B6"/>
                </a:solidFill>
              </a:rPr>
              <a:t>بدل نصوص حرة، لضمان صحة القيم دائمًا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47488" y="2194560"/>
            <a:ext cx="2066544" cy="2514600"/>
          </a:xfrm>
          <a:prstGeom prst="roundRect">
            <a:avLst>
              <a:gd name="adj" fmla="val 5310"/>
            </a:avLst>
          </a:prstGeom>
          <a:solidFill>
            <a:srgbClr val="1E4D3D"/>
          </a:solidFill>
          <a:ln w="12700">
            <a:solidFill>
              <a:srgbClr val="1E4D3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138928" y="237744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4A"/>
                </a:solidFill>
              </a:rPr>
              <a:t>38/38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5138928" y="315468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Row Level Security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84648" y="365760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B9C2B6"/>
                </a:solidFill>
              </a:rPr>
              <a:t>مفعّلة على كل الجداول بلا استثناء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98064" y="2194560"/>
            <a:ext cx="2066544" cy="2514600"/>
          </a:xfrm>
          <a:prstGeom prst="roundRect">
            <a:avLst>
              <a:gd name="adj" fmla="val 5310"/>
            </a:avLst>
          </a:prstGeom>
          <a:solidFill>
            <a:srgbClr val="1E4D3D"/>
          </a:solidFill>
          <a:ln w="12700">
            <a:solidFill>
              <a:srgbClr val="1E4D3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2889504" y="237744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4A"/>
                </a:solidFill>
              </a:rPr>
              <a:t>76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2889504" y="315468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دالة ‎app_*‎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935224" y="365760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B9C2B6"/>
                </a:solidFill>
              </a:rPr>
              <a:t>كل عمليات التطبيق واللوحة تمر عبرها بصلاحيات محددة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194560"/>
            <a:ext cx="2066544" cy="2514600"/>
          </a:xfrm>
          <a:prstGeom prst="roundRect">
            <a:avLst>
              <a:gd name="adj" fmla="val 5310"/>
            </a:avLst>
          </a:prstGeom>
          <a:solidFill>
            <a:srgbClr val="1E4D3D"/>
          </a:solidFill>
          <a:ln w="12700">
            <a:solidFill>
              <a:srgbClr val="1E4D3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40080" y="237744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4A"/>
                </a:solidFill>
              </a:rPr>
              <a:t>5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15468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Triggers تلقائية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65760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B9C2B6"/>
                </a:solidFill>
              </a:rPr>
              <a:t>updated_at، وسعة المجموعة، وأولوية الحاج، وصحة الرفيق، وموقع كل تنبيه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C2B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2332A"/>
                </a:solidFill>
              </a:rPr>
              <a:t>قاعدة بيانات تعمل الآن  —  ليست تصميمًا فقط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B564C"/>
                </a:solidFill>
              </a:rPr>
              <a:t>القاعدة الحية على Supabase، والتطبيق والموقع يقرؤون منها ويكتبون فيها الآن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94360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54480"/>
            <a:ext cx="5943600" cy="457200"/>
          </a:xfrm>
          <a:prstGeom prst="roundRect">
            <a:avLst>
              <a:gd name="adj" fmla="val 20000"/>
            </a:avLst>
          </a:prstGeom>
          <a:solidFill>
            <a:srgbClr val="F3EEDD"/>
          </a:solidFill>
          <a:ln w="12700">
            <a:solidFill>
              <a:srgbClr val="F3EEDD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31520" y="1728216"/>
            <a:ext cx="109728" cy="109728"/>
          </a:xfrm>
          <a:prstGeom prst="ellipse">
            <a:avLst/>
          </a:prstGeom>
          <a:solidFill>
            <a:srgbClr val="E0645A"/>
          </a:solidFill>
          <a:ln w="12700">
            <a:solidFill>
              <a:srgbClr val="E0645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87552" y="1728216"/>
            <a:ext cx="109728" cy="109728"/>
          </a:xfrm>
          <a:prstGeom prst="ellipse">
            <a:avLst/>
          </a:prstGeom>
          <a:solidFill>
            <a:srgbClr val="E8C15A"/>
          </a:solidFill>
          <a:ln w="12700">
            <a:solidFill>
              <a:srgbClr val="E8C15A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243584" y="1728216"/>
            <a:ext cx="109728" cy="109728"/>
          </a:xfrm>
          <a:prstGeom prst="ellipse">
            <a:avLst/>
          </a:prstGeom>
          <a:solidFill>
            <a:srgbClr val="6FAE7F"/>
          </a:solidFill>
          <a:ln w="12700">
            <a:solidFill>
              <a:srgbClr val="6FAE7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554480" y="1554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supabase.com/dashboard/project/mlmjvuypiblaixwzmemd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12140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2332A"/>
                </a:solidFill>
              </a:rPr>
              <a:t>عين الحملة  ·  38 جدولاً (21 أساسية تظهر هنا + 17 للحج)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2606040"/>
            <a:ext cx="5394960" cy="402336"/>
          </a:xfrm>
          <a:prstGeom prst="roundRect">
            <a:avLst>
              <a:gd name="adj" fmla="val 13636"/>
            </a:avLst>
          </a:prstGeom>
          <a:solidFill>
            <a:srgbClr val="FAF9F5"/>
          </a:solidFill>
          <a:ln w="12700">
            <a:solidFill>
              <a:srgbClr val="FAF9F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914400" y="2606040"/>
            <a:ext cx="170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B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712720" y="2606040"/>
            <a:ext cx="170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B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pilgrims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511040" y="2606040"/>
            <a:ext cx="170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B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supervisors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3118104"/>
            <a:ext cx="5394960" cy="402336"/>
          </a:xfrm>
          <a:prstGeom prst="roundRect">
            <a:avLst>
              <a:gd name="adj" fmla="val 13636"/>
            </a:avLst>
          </a:prstGeom>
          <a:solidFill>
            <a:srgbClr val="FAF9F5"/>
          </a:solidFill>
          <a:ln w="12700">
            <a:solidFill>
              <a:srgbClr val="FAF9F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914400" y="3118104"/>
            <a:ext cx="170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B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emergency_contacts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712720" y="3118104"/>
            <a:ext cx="170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B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app_sessions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11040" y="3118104"/>
            <a:ext cx="170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B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campaigns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3630168"/>
            <a:ext cx="5394960" cy="402336"/>
          </a:xfrm>
          <a:prstGeom prst="roundRect">
            <a:avLst>
              <a:gd name="adj" fmla="val 13636"/>
            </a:avLst>
          </a:prstGeom>
          <a:solidFill>
            <a:srgbClr val="FAF9F5"/>
          </a:solidFill>
          <a:ln w="12700">
            <a:solidFill>
              <a:srgbClr val="FAF9F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914400" y="3630168"/>
            <a:ext cx="170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B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712720" y="3630168"/>
            <a:ext cx="170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B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rituals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11040" y="3630168"/>
            <a:ext cx="170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B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2960" y="4142232"/>
            <a:ext cx="5394960" cy="402336"/>
          </a:xfrm>
          <a:prstGeom prst="roundRect">
            <a:avLst>
              <a:gd name="adj" fmla="val 13636"/>
            </a:avLst>
          </a:prstGeom>
          <a:solidFill>
            <a:srgbClr val="FAF9F5"/>
          </a:solidFill>
          <a:ln w="12700">
            <a:solidFill>
              <a:srgbClr val="FAF9F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914400" y="4142232"/>
            <a:ext cx="170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B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gatherings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2712720" y="4142232"/>
            <a:ext cx="170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B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11040" y="4142232"/>
            <a:ext cx="170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B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location_pings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2960" y="4654296"/>
            <a:ext cx="5394960" cy="402336"/>
          </a:xfrm>
          <a:prstGeom prst="roundRect">
            <a:avLst>
              <a:gd name="adj" fmla="val 13636"/>
            </a:avLst>
          </a:prstGeom>
          <a:solidFill>
            <a:srgbClr val="FAF9F5"/>
          </a:solidFill>
          <a:ln w="12700">
            <a:solidFill>
              <a:srgbClr val="FAF9F5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914400" y="4654296"/>
            <a:ext cx="170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B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712720" y="4654296"/>
            <a:ext cx="170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B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trip_groups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11040" y="4654296"/>
            <a:ext cx="170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B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22960" y="5166360"/>
            <a:ext cx="5394960" cy="402336"/>
          </a:xfrm>
          <a:prstGeom prst="roundRect">
            <a:avLst>
              <a:gd name="adj" fmla="val 13636"/>
            </a:avLst>
          </a:prstGeom>
          <a:solidFill>
            <a:srgbClr val="FAF9F5"/>
          </a:solidFill>
          <a:ln w="12700">
            <a:solidFill>
              <a:srgbClr val="FAF9F5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914400" y="5166360"/>
            <a:ext cx="170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B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sos_requests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2712720" y="5166360"/>
            <a:ext cx="170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B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11040" y="5166360"/>
            <a:ext cx="170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B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broadcasts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2960" y="5678424"/>
            <a:ext cx="5394960" cy="402336"/>
          </a:xfrm>
          <a:prstGeom prst="roundRect">
            <a:avLst>
              <a:gd name="adj" fmla="val 13636"/>
            </a:avLst>
          </a:prstGeom>
          <a:solidFill>
            <a:srgbClr val="FAF9F5"/>
          </a:solidFill>
          <a:ln w="12700">
            <a:solidFill>
              <a:srgbClr val="FAF9F5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914400" y="5678424"/>
            <a:ext cx="170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B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ritual_reports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2712720" y="5678424"/>
            <a:ext cx="170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B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comments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511040" y="5678424"/>
            <a:ext cx="170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B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activity_log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1109960" y="1600200"/>
            <a:ext cx="457200" cy="457200"/>
          </a:xfrm>
          <a:prstGeom prst="ellipse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 txBox="1"/>
          <p:nvPr/>
        </p:nvSpPr>
        <p:spPr>
          <a:xfrm>
            <a:off x="111099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0" y="15819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E1B16"/>
                </a:solidFill>
              </a:rPr>
              <a:t>PostgreSQL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0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B564C"/>
                </a:solidFill>
              </a:rPr>
              <a:t>محرك قاعدة بيانات علاقية كامل، سحابي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1109960" y="2697480"/>
            <a:ext cx="457200" cy="457200"/>
          </a:xfrm>
          <a:prstGeom prst="ellipse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 txBox="1"/>
          <p:nvPr/>
        </p:nvSpPr>
        <p:spPr>
          <a:xfrm>
            <a:off x="111099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6858000" y="26791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E1B16"/>
                </a:solidFill>
              </a:rPr>
              <a:t>Supabase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6858000" y="3063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B564C"/>
                </a:solidFill>
              </a:rPr>
              <a:t>منصة استضافة مُدارة، مشروع باسم «عين الحملة»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1109960" y="3794760"/>
            <a:ext cx="457200" cy="457200"/>
          </a:xfrm>
          <a:prstGeom prst="ellipse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 txBox="1"/>
          <p:nvPr/>
        </p:nvSpPr>
        <p:spPr>
          <a:xfrm>
            <a:off x="1110996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6858000" y="37764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E1B16"/>
                </a:solidFill>
              </a:rPr>
              <a:t>Seoul (ap-northeast-2)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6858000" y="4160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B564C"/>
                </a:solidFill>
              </a:rPr>
              <a:t>منطقة الاستضافة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1109960" y="4892040"/>
            <a:ext cx="457200" cy="457200"/>
          </a:xfrm>
          <a:prstGeom prst="ellipse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 txBox="1"/>
          <p:nvPr/>
        </p:nvSpPr>
        <p:spPr>
          <a:xfrm>
            <a:off x="1110996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858000" y="48737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E1B16"/>
                </a:solidFill>
              </a:rPr>
              <a:t>متصلة بالتطبيق والموقع الآن</a:t>
            </a:r>
            <a:endParaRPr lang="en-US" sz="1500" dirty="0"/>
          </a:p>
        </p:txBody>
      </p:sp>
      <p:sp>
        <p:nvSpPr>
          <p:cNvPr id="54" name="Text 52"/>
          <p:cNvSpPr txBox="1"/>
          <p:nvPr/>
        </p:nvSpPr>
        <p:spPr>
          <a:xfrm>
            <a:off x="6858000" y="5257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B564C"/>
                </a:solidFill>
              </a:rPr>
              <a:t>ain-alhamla2.netlify.app يقرأ ويكتب منها مباشرة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56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2332A"/>
                </a:solidFill>
              </a:rPr>
              <a:t>واجهة لكل نوع مستخدم  —  كلها من نفس القاعدة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B564C"/>
                </a:solidFill>
              </a:rPr>
              <a:t>كل شاشة تستدعي دوال ‎app_*‎ على Supabase‏، فلا توجد بيانات ثابتة داخل الواجهات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046720" y="164592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75320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2332A"/>
                </a:solidFill>
              </a:rPr>
              <a:t>تطبيق الحاج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75320" y="2240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564C"/>
                </a:solidFill>
              </a:rPr>
              <a:t>Flutter  ·  4 لغات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75320" y="26517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16"/>
                </a:solidFill>
              </a:rPr>
              <a:t>الرئيسية: التجمع القادم والمسافة والسهم</a:t>
            </a:r>
            <a:endParaRPr lang="en-US" sz="13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16"/>
                </a:solidFill>
              </a:rPr>
              <a:t>الخريطة: الحملة ومشرفي والمجموعة</a:t>
            </a:r>
            <a:endParaRPr lang="en-US" sz="13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16"/>
                </a:solidFill>
              </a:rPr>
              <a:t>جدولي: المناسك بترتيبها الشرعي</a:t>
            </a:r>
            <a:endParaRPr lang="en-US" sz="13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16"/>
                </a:solidFill>
              </a:rPr>
              <a:t>SOS و«أنا تائه» وبطاقة الطوارئ</a:t>
            </a:r>
            <a:endParaRPr lang="en-US" sz="13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16"/>
                </a:solidFill>
              </a:rPr>
              <a:t>«حجّي»: دليل اليوم والعدّاد والأدوية والقبلة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75320" y="4389120"/>
            <a:ext cx="3108960" cy="0"/>
          </a:xfrm>
          <a:prstGeom prst="line">
            <a:avLst/>
          </a:prstGeom>
          <a:noFill/>
          <a:ln w="9525">
            <a:solidFill>
              <a:srgbClr val="E4DCC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8275320" y="4526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app_me · app_today · app_check_in · app_trigger_sos · app_map_data · app_my_hajj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97680" y="164592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FAF3DE"/>
          </a:solidFill>
          <a:ln w="12700">
            <a:solidFill>
              <a:srgbClr val="FAF3D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526280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2332A"/>
                </a:solidFill>
              </a:rPr>
              <a:t>تطبيق المشرف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240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564C"/>
                </a:solidFill>
              </a:rPr>
              <a:t>Flutter  ·  ميداني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6517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16"/>
                </a:solidFill>
              </a:rPr>
              <a:t>مجموعتي: حضور كل حاج وحالته</a:t>
            </a:r>
            <a:endParaRPr lang="en-US" sz="13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16"/>
                </a:solidFill>
              </a:rPr>
              <a:t>الخريطة: مواقع حجاج الفوج</a:t>
            </a:r>
            <a:endParaRPr lang="en-US" sz="13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16"/>
                </a:solidFill>
              </a:rPr>
              <a:t>التجمعات: فتح وإغلاق وتسجيل يدوي</a:t>
            </a:r>
            <a:endParaRPr lang="en-US" sz="13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16"/>
                </a:solidFill>
              </a:rPr>
              <a:t>التنبيهات وتعميم رسالة للفوج</a:t>
            </a:r>
            <a:endParaRPr lang="en-US" sz="13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16"/>
                </a:solidFill>
              </a:rPr>
              <a:t>الرسائل المترجمة ومن قرأها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26280" y="4389120"/>
            <a:ext cx="3108960" cy="0"/>
          </a:xfrm>
          <a:prstGeom prst="line">
            <a:avLst/>
          </a:prstGeom>
          <a:noFill/>
          <a:ln w="9525">
            <a:solidFill>
              <a:srgbClr val="E4DCC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4526280" y="4526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app_board · app_create_gathering · app_manual_attendance · app_send_broadcast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164592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77240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2332A"/>
                </a:solidFill>
              </a:rPr>
              <a:t>لوحة التحكم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2240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564C"/>
                </a:solidFill>
              </a:rPr>
              <a:t>الموقع  ·  الإدارة ومركز العمليات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26517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16"/>
                </a:solidFill>
              </a:rPr>
              <a:t>مؤشرات الحملة وتقارير المناسك</a:t>
            </a:r>
            <a:endParaRPr lang="en-US" sz="13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16"/>
                </a:solidFill>
              </a:rPr>
              <a:t>الخريطة الحية وأقرب المستجيبين</a:t>
            </a:r>
            <a:endParaRPr lang="en-US" sz="13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16"/>
                </a:solidFill>
              </a:rPr>
              <a:t>طابور الاستجابة للبلاغات</a:t>
            </a:r>
            <a:endParaRPr lang="en-US" sz="13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16"/>
                </a:solidFill>
              </a:rPr>
              <a:t>سجل العمل والتعليقات</a:t>
            </a:r>
            <a:endParaRPr lang="en-US" sz="13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16"/>
                </a:solidFill>
              </a:rPr>
              <a:t>قسم الحج: 5 صفحات جديدة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4389120"/>
            <a:ext cx="3108960" cy="0"/>
          </a:xfrm>
          <a:prstGeom prst="line">
            <a:avLst/>
          </a:prstGeom>
          <a:noFill/>
          <a:ln w="9525">
            <a:solidFill>
              <a:srgbClr val="E4DCC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77240" y="4526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app_kpis · app_live_positions · app_update_alert · app_smart_tick · app_season_report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56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2332A"/>
                </a:solidFill>
              </a:rPr>
              <a:t>من الإصدار 2.1  —  الخريطة تعمل بدون إنترنت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B564C"/>
                </a:solidFill>
              </a:rPr>
              <a:t>ضعف الشبكة في المشاعر من تحديات المشروع، فصار الجوال يحسب المسافة والاتجاه بنفسه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006840" y="16916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927080" y="1920240"/>
            <a:ext cx="457200" cy="457200"/>
          </a:xfrm>
          <a:prstGeom prst="ellipse">
            <a:avLst/>
          </a:prstGeom>
          <a:solidFill>
            <a:srgbClr val="12332A"/>
          </a:solidFill>
          <a:ln w="12700">
            <a:solidFill>
              <a:srgbClr val="12332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927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89720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E1B16"/>
                </a:solidFill>
              </a:rPr>
              <a:t>عند الاتصال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89720" y="28803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B564C"/>
                </a:solidFill>
              </a:rPr>
              <a:t>app_map_data تُحفظ على الجهاز كل 5 دقائق: المواقع والتجمعات وآخر موقع للمشرف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87745" y="16916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AF3DE"/>
          </a:solidFill>
          <a:ln w="12700">
            <a:solidFill>
              <a:srgbClr val="FAF3DE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107985" y="1920240"/>
            <a:ext cx="457200" cy="457200"/>
          </a:xfrm>
          <a:prstGeom prst="ellipse">
            <a:avLst/>
          </a:prstGeom>
          <a:solidFill>
            <a:srgbClr val="12332A"/>
          </a:solidFill>
          <a:ln w="12700">
            <a:solidFill>
              <a:srgbClr val="12332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107985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70625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E1B16"/>
                </a:solidFill>
              </a:rPr>
              <a:t>صور الخريطة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70625" y="28803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B564C"/>
                </a:solidFill>
              </a:rPr>
              <a:t>تُنزَّل مرة لمنطقة الحملة فقط (منى وعرفات ومزدلفة والحرم)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68650" y="16916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288890" y="1920240"/>
            <a:ext cx="457200" cy="457200"/>
          </a:xfrm>
          <a:prstGeom prst="ellipse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528889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51530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E1B16"/>
                </a:solidFill>
              </a:rPr>
              <a:t>بدون إنترنت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551530" y="28803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B564C"/>
                </a:solidFill>
              </a:rPr>
              <a:t>GPS + حساب المسافة والسهم وزمن المشي داخل الجهاز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9554" y="16916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AF3DE"/>
          </a:solidFill>
          <a:ln w="12700">
            <a:solidFill>
              <a:srgbClr val="FAF3DE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469794" y="1920240"/>
            <a:ext cx="457200" cy="457200"/>
          </a:xfrm>
          <a:prstGeom prst="ellipse">
            <a:avLst/>
          </a:prstGeom>
          <a:solidFill>
            <a:srgbClr val="12332A"/>
          </a:solidFill>
          <a:ln w="12700">
            <a:solidFill>
              <a:srgbClr val="12332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2469794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2434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E1B16"/>
                </a:solidFill>
              </a:rPr>
              <a:t>عند عودة الشبكة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2434" y="28803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B564C"/>
                </a:solidFill>
              </a:rPr>
              <a:t>الحضور وSOS و«أنا تائه» تُرسل تلقائيًا بوقتها الأصلي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4343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12332A"/>
                </a:solidFill>
              </a:rPr>
              <a:t>434</a:t>
            </a:r>
            <a:endParaRPr lang="en-US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5166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B564C"/>
                </a:solidFill>
              </a:rPr>
              <a:t>صورة خريطة محفوظة لمنطقة الحملة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297680" y="4343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12332A"/>
                </a:solidFill>
              </a:rPr>
              <a:t>أقل من 10 م.ب</a:t>
            </a:r>
            <a:endParaRPr lang="en-US" sz="3600" dirty="0"/>
          </a:p>
        </p:txBody>
      </p:sp>
      <p:sp>
        <p:nvSpPr>
          <p:cNvPr id="27" name="Text 25"/>
          <p:cNvSpPr txBox="1"/>
          <p:nvPr/>
        </p:nvSpPr>
        <p:spPr>
          <a:xfrm>
            <a:off x="4297680" y="5166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B564C"/>
                </a:solidFill>
              </a:rPr>
              <a:t>حجمها على الجوال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343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12332A"/>
                </a:solidFill>
              </a:rPr>
              <a:t>0</a:t>
            </a:r>
            <a:endParaRPr lang="en-US" sz="36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166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B564C"/>
                </a:solidFill>
              </a:rPr>
              <a:t>اتصال مطلوب لحساب المسافة والاتجاه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1E4D3D"/>
                </a:solidFill>
              </a:rPr>
              <a:t>معادلات المسافة والاتجاه نفسها في الخادم والتطبيق، فالنتيجة واحدة بالإنترنت وبدونه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56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2332A"/>
                </a:solidFill>
              </a:rPr>
              <a:t>الجديد في الإصدار 4  —  مميزات الحج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B564C"/>
                </a:solidFill>
              </a:rPr>
              <a:t>ثماني مميزات صُمّمت لظروف الحج الفعلية: الزحام والحر والمسافات وتعدد اللغات</a:t>
            </a:r>
            <a:endParaRPr lang="en-US" sz="1300" dirty="0"/>
          </a:p>
        </p:txBody>
      </p:sp>
      <p:sp>
        <p:nvSpPr>
          <p:cNvPr id="517" name="Shape 517"/>
          <p:cNvSpPr/>
          <p:nvPr/>
        </p:nvSpPr>
        <p:spPr>
          <a:xfrm>
            <a:off x="6172200" y="1645920"/>
            <a:ext cx="5440680" cy="960120"/>
          </a:xfrm>
          <a:prstGeom prst="roundRect">
            <a:avLst>
              <a:gd name="adj" fmla="val 5455"/>
            </a:avLst>
          </a:prstGeom>
          <a:solidFill>
            <a:srgbClr val="EEF3EE"/>
          </a:solidFill>
          <a:ln w="12700">
            <a:solidFill>
              <a:srgbClr val="EEF3EE"/>
            </a:solidFill>
          </a:ln>
        </p:spPr>
        <p:txBody>
          <a:bodyPr/>
          <a:p/>
        </p:txBody>
      </p:sp>
      <p:sp>
        <p:nvSpPr>
          <p:cNvPr id="518" name="Shape 518"/>
          <p:cNvSpPr/>
          <p:nvPr/>
        </p:nvSpPr>
        <p:spPr>
          <a:xfrm>
            <a:off x="10972800" y="1892808"/>
            <a:ext cx="457200" cy="457200"/>
          </a:xfrm>
          <a:prstGeom prst="ellipse">
            <a:avLst/>
          </a:prstGeom>
          <a:solidFill>
            <a:srgbClr val="12332A"/>
          </a:solidFill>
          <a:ln w="12700">
            <a:solidFill>
              <a:srgbClr val="12332A"/>
            </a:solidFill>
          </a:ln>
        </p:spPr>
        <p:txBody>
          <a:bodyPr/>
          <a:p/>
        </p:txBody>
      </p:sp>
      <p:sp>
        <p:nvSpPr>
          <p:cNvPr id="519" name="Text 519"/>
          <p:cNvSpPr txBox="1"/>
          <p:nvPr/>
        </p:nvSpPr>
        <p:spPr>
          <a:xfrm>
            <a:off x="1097280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20" name="Text 520"/>
          <p:cNvSpPr txBox="1"/>
          <p:nvPr/>
        </p:nvSpPr>
        <p:spPr>
          <a:xfrm>
            <a:off x="6400800" y="177393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400" b="1" dirty="0">
                <a:solidFill>
                  <a:srgbClr val="1E1B16"/>
                </a:solidFill>
              </a:rPr>
              <a:t>مؤشر خطر الضياع ونظام الرفيق</a:t>
            </a:r>
            <a:endParaRPr lang="en-US" sz="1400" dirty="0"/>
          </a:p>
        </p:txBody>
      </p:sp>
      <p:sp>
        <p:nvSpPr>
          <p:cNvPr id="521" name="Text 521"/>
          <p:cNvSpPr txBox="1"/>
          <p:nvPr/>
        </p:nvSpPr>
        <p:spPr>
          <a:xfrm>
            <a:off x="6400800" y="212140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050" dirty="0">
                <a:solidFill>
                  <a:srgbClr val="5B564C"/>
                </a:solidFill>
              </a:rPr>
              <a:t>درجة لكل حاج من البعد وآخر ظهور والبطارية والعمر، وتنبيه فوري إذا انفصل عن رفيقه</a:t>
            </a:r>
            <a:endParaRPr lang="en-US" sz="1050" dirty="0"/>
          </a:p>
        </p:txBody>
      </p:sp>
      <p:sp>
        <p:nvSpPr>
          <p:cNvPr id="522" name="Shape 522"/>
          <p:cNvSpPr/>
          <p:nvPr/>
        </p:nvSpPr>
        <p:spPr>
          <a:xfrm>
            <a:off x="6172200" y="2743200"/>
            <a:ext cx="5440680" cy="960120"/>
          </a:xfrm>
          <a:prstGeom prst="roundRect">
            <a:avLst>
              <a:gd name="adj" fmla="val 5455"/>
            </a:avLst>
          </a:prstGeom>
          <a:solidFill>
            <a:srgbClr val="FAF3DE"/>
          </a:solidFill>
          <a:ln w="12700">
            <a:solidFill>
              <a:srgbClr val="FAF3DE"/>
            </a:solidFill>
          </a:ln>
        </p:spPr>
        <p:txBody>
          <a:bodyPr/>
          <a:p/>
        </p:txBody>
      </p:sp>
      <p:sp>
        <p:nvSpPr>
          <p:cNvPr id="523" name="Shape 523"/>
          <p:cNvSpPr/>
          <p:nvPr/>
        </p:nvSpPr>
        <p:spPr>
          <a:xfrm>
            <a:off x="10972800" y="2990088"/>
            <a:ext cx="457200" cy="457200"/>
          </a:xfrm>
          <a:prstGeom prst="ellipse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</p:spPr>
        <p:txBody>
          <a:bodyPr/>
          <a:p/>
        </p:txBody>
      </p:sp>
      <p:sp>
        <p:nvSpPr>
          <p:cNvPr id="524" name="Text 524"/>
          <p:cNvSpPr txBox="1"/>
          <p:nvPr/>
        </p:nvSpPr>
        <p:spPr>
          <a:xfrm>
            <a:off x="1097280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525" name="Text 525"/>
          <p:cNvSpPr txBox="1"/>
          <p:nvPr/>
        </p:nvSpPr>
        <p:spPr>
          <a:xfrm>
            <a:off x="6400800" y="287121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400" b="1" dirty="0">
                <a:solidFill>
                  <a:srgbClr val="1E1B16"/>
                </a:solidFill>
              </a:rPr>
              <a:t>نقطة اللقاء الذكية</a:t>
            </a:r>
            <a:endParaRPr lang="en-US" sz="1400" dirty="0"/>
          </a:p>
        </p:txBody>
      </p:sp>
      <p:sp>
        <p:nvSpPr>
          <p:cNvPr id="526" name="Text 526"/>
          <p:cNvSpPr txBox="1"/>
          <p:nvPr/>
        </p:nvSpPr>
        <p:spPr>
          <a:xfrm>
            <a:off x="6400800" y="321868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050" dirty="0">
                <a:solidFill>
                  <a:srgbClr val="5B564C"/>
                </a:solidFill>
              </a:rPr>
              <a:t>أقرب نقطة آمنة للحاج التائه، تصله باسمها في إشعار ويراها المشرف في البلاغ</a:t>
            </a:r>
            <a:endParaRPr lang="en-US" sz="1050" dirty="0"/>
          </a:p>
        </p:txBody>
      </p:sp>
      <p:sp>
        <p:nvSpPr>
          <p:cNvPr id="527" name="Shape 527"/>
          <p:cNvSpPr/>
          <p:nvPr/>
        </p:nvSpPr>
        <p:spPr>
          <a:xfrm>
            <a:off x="6172200" y="3840480"/>
            <a:ext cx="5440680" cy="960120"/>
          </a:xfrm>
          <a:prstGeom prst="roundRect">
            <a:avLst>
              <a:gd name="adj" fmla="val 5455"/>
            </a:avLst>
          </a:prstGeom>
          <a:solidFill>
            <a:srgbClr val="EEF3EE"/>
          </a:solidFill>
          <a:ln w="12700">
            <a:solidFill>
              <a:srgbClr val="EEF3EE"/>
            </a:solidFill>
          </a:ln>
        </p:spPr>
        <p:txBody>
          <a:bodyPr/>
          <a:p/>
        </p:txBody>
      </p:sp>
      <p:sp>
        <p:nvSpPr>
          <p:cNvPr id="528" name="Shape 528"/>
          <p:cNvSpPr/>
          <p:nvPr/>
        </p:nvSpPr>
        <p:spPr>
          <a:xfrm>
            <a:off x="10972800" y="4087368"/>
            <a:ext cx="457200" cy="457200"/>
          </a:xfrm>
          <a:prstGeom prst="ellipse">
            <a:avLst/>
          </a:prstGeom>
          <a:solidFill>
            <a:srgbClr val="12332A"/>
          </a:solidFill>
          <a:ln w="12700">
            <a:solidFill>
              <a:srgbClr val="12332A"/>
            </a:solidFill>
          </a:ln>
        </p:spPr>
        <p:txBody>
          <a:bodyPr/>
          <a:p/>
        </p:txBody>
      </p:sp>
      <p:sp>
        <p:nvSpPr>
          <p:cNvPr id="529" name="Text 529"/>
          <p:cNvSpPr txBox="1"/>
          <p:nvPr/>
        </p:nvSpPr>
        <p:spPr>
          <a:xfrm>
            <a:off x="1097280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530" name="Text 530"/>
          <p:cNvSpPr txBox="1"/>
          <p:nvPr/>
        </p:nvSpPr>
        <p:spPr>
          <a:xfrm>
            <a:off x="6400800" y="396849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400" b="1" dirty="0">
                <a:solidFill>
                  <a:srgbClr val="1E1B16"/>
                </a:solidFill>
              </a:rPr>
              <a:t>الإجهاد الحراري ونبض الحشود</a:t>
            </a:r>
            <a:endParaRPr lang="en-US" sz="1400" dirty="0"/>
          </a:p>
        </p:txBody>
      </p:sp>
      <p:sp>
        <p:nvSpPr>
          <p:cNvPr id="531" name="Text 531"/>
          <p:cNvSpPr txBox="1"/>
          <p:nvPr/>
        </p:nvSpPr>
        <p:spPr>
          <a:xfrm>
            <a:off x="6400800" y="431596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050" dirty="0">
                <a:solidFill>
                  <a:srgbClr val="5B564C"/>
                </a:solidFill>
              </a:rPr>
              <a:t>حدّ حرارة حسب عمر الحاج وحالته الصحية، وأفضل وقت للرمي حسب الازدحام</a:t>
            </a:r>
            <a:endParaRPr lang="en-US" sz="1050" dirty="0"/>
          </a:p>
        </p:txBody>
      </p:sp>
      <p:sp>
        <p:nvSpPr>
          <p:cNvPr id="532" name="Shape 532"/>
          <p:cNvSpPr/>
          <p:nvPr/>
        </p:nvSpPr>
        <p:spPr>
          <a:xfrm>
            <a:off x="6172200" y="4937760"/>
            <a:ext cx="5440680" cy="960120"/>
          </a:xfrm>
          <a:prstGeom prst="roundRect">
            <a:avLst>
              <a:gd name="adj" fmla="val 5455"/>
            </a:avLst>
          </a:prstGeom>
          <a:solidFill>
            <a:srgbClr val="FAF3DE"/>
          </a:solidFill>
          <a:ln w="12700">
            <a:solidFill>
              <a:srgbClr val="FAF3DE"/>
            </a:solidFill>
          </a:ln>
        </p:spPr>
        <p:txBody>
          <a:bodyPr/>
          <a:p/>
        </p:txBody>
      </p:sp>
      <p:sp>
        <p:nvSpPr>
          <p:cNvPr id="533" name="Shape 533"/>
          <p:cNvSpPr/>
          <p:nvPr/>
        </p:nvSpPr>
        <p:spPr>
          <a:xfrm>
            <a:off x="10972800" y="5184648"/>
            <a:ext cx="457200" cy="457200"/>
          </a:xfrm>
          <a:prstGeom prst="ellipse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</p:spPr>
        <p:txBody>
          <a:bodyPr/>
          <a:p/>
        </p:txBody>
      </p:sp>
      <p:sp>
        <p:nvSpPr>
          <p:cNvPr id="534" name="Text 534"/>
          <p:cNvSpPr txBox="1"/>
          <p:nvPr/>
        </p:nvSpPr>
        <p:spPr>
          <a:xfrm>
            <a:off x="10972800" y="5184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535" name="Text 535"/>
          <p:cNvSpPr txBox="1"/>
          <p:nvPr/>
        </p:nvSpPr>
        <p:spPr>
          <a:xfrm>
            <a:off x="6400800" y="506577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400" b="1" dirty="0">
                <a:solidFill>
                  <a:srgbClr val="1E1B16"/>
                </a:solidFill>
              </a:rPr>
              <a:t>حدود المشاعر والمبيت بمنى</a:t>
            </a:r>
            <a:endParaRPr lang="en-US" sz="1400" dirty="0"/>
          </a:p>
        </p:txBody>
      </p:sp>
      <p:sp>
        <p:nvSpPr>
          <p:cNvPr id="536" name="Text 536"/>
          <p:cNvSpPr txBox="1"/>
          <p:nvPr/>
        </p:nvSpPr>
        <p:spPr>
          <a:xfrm>
            <a:off x="6400800" y="541324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050" dirty="0">
                <a:solidFill>
                  <a:srgbClr val="5B564C"/>
                </a:solidFill>
              </a:rPr>
              <a:t>من داخل حد عرفة ومزدلفة ومنى ومن خارجه مع اتجاه الدخول، وساعات المبيت</a:t>
            </a:r>
            <a:endParaRPr lang="en-US" sz="1050" dirty="0"/>
          </a:p>
        </p:txBody>
      </p:sp>
      <p:sp>
        <p:nvSpPr>
          <p:cNvPr id="537" name="Shape 537"/>
          <p:cNvSpPr/>
          <p:nvPr/>
        </p:nvSpPr>
        <p:spPr>
          <a:xfrm>
            <a:off x="548640" y="1645920"/>
            <a:ext cx="5440680" cy="960120"/>
          </a:xfrm>
          <a:prstGeom prst="roundRect">
            <a:avLst>
              <a:gd name="adj" fmla="val 5455"/>
            </a:avLst>
          </a:prstGeom>
          <a:solidFill>
            <a:srgbClr val="FAF3DE"/>
          </a:solidFill>
          <a:ln w="12700">
            <a:solidFill>
              <a:srgbClr val="FAF3DE"/>
            </a:solidFill>
          </a:ln>
        </p:spPr>
        <p:txBody>
          <a:bodyPr/>
          <a:p/>
        </p:txBody>
      </p:sp>
      <p:sp>
        <p:nvSpPr>
          <p:cNvPr id="538" name="Shape 538"/>
          <p:cNvSpPr/>
          <p:nvPr/>
        </p:nvSpPr>
        <p:spPr>
          <a:xfrm>
            <a:off x="5349240" y="1892808"/>
            <a:ext cx="457200" cy="457200"/>
          </a:xfrm>
          <a:prstGeom prst="ellipse">
            <a:avLst/>
          </a:prstGeom>
          <a:solidFill>
            <a:srgbClr val="12332A"/>
          </a:solidFill>
          <a:ln w="12700">
            <a:solidFill>
              <a:srgbClr val="12332A"/>
            </a:solidFill>
          </a:ln>
        </p:spPr>
        <p:txBody>
          <a:bodyPr/>
          <a:p/>
        </p:txBody>
      </p:sp>
      <p:sp>
        <p:nvSpPr>
          <p:cNvPr id="539" name="Text 539"/>
          <p:cNvSpPr txBox="1"/>
          <p:nvPr/>
        </p:nvSpPr>
        <p:spPr>
          <a:xfrm>
            <a:off x="53492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540" name="Text 540"/>
          <p:cNvSpPr txBox="1"/>
          <p:nvPr/>
        </p:nvSpPr>
        <p:spPr>
          <a:xfrm>
            <a:off x="777240" y="177393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400" b="1" dirty="0">
                <a:solidFill>
                  <a:srgbClr val="1E1B16"/>
                </a:solidFill>
              </a:rPr>
              <a:t>الأدوية و«أنت بخير؟»</a:t>
            </a:r>
            <a:endParaRPr lang="en-US" sz="1400" dirty="0"/>
          </a:p>
        </p:txBody>
      </p:sp>
      <p:sp>
        <p:nvSpPr>
          <p:cNvPr id="541" name="Text 541"/>
          <p:cNvSpPr txBox="1"/>
          <p:nvPr/>
        </p:nvSpPr>
        <p:spPr>
          <a:xfrm>
            <a:off x="777240" y="212140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050" dirty="0">
                <a:solidFill>
                  <a:srgbClr val="5B564C"/>
                </a:solidFill>
              </a:rPr>
              <a:t>جرعات اليوم وتنبيه الفائتة، وسؤال تلقائي عند توقف الحركة، وبطاقة المسعف</a:t>
            </a:r>
            <a:endParaRPr lang="en-US" sz="1050" dirty="0"/>
          </a:p>
        </p:txBody>
      </p:sp>
      <p:sp>
        <p:nvSpPr>
          <p:cNvPr id="542" name="Shape 542"/>
          <p:cNvSpPr/>
          <p:nvPr/>
        </p:nvSpPr>
        <p:spPr>
          <a:xfrm>
            <a:off x="548640" y="2743200"/>
            <a:ext cx="5440680" cy="960120"/>
          </a:xfrm>
          <a:prstGeom prst="roundRect">
            <a:avLst>
              <a:gd name="adj" fmla="val 5455"/>
            </a:avLst>
          </a:prstGeom>
          <a:solidFill>
            <a:srgbClr val="EEF3EE"/>
          </a:solidFill>
          <a:ln w="12700">
            <a:solidFill>
              <a:srgbClr val="EEF3EE"/>
            </a:solidFill>
          </a:ln>
        </p:spPr>
        <p:txBody>
          <a:bodyPr/>
          <a:p/>
        </p:txBody>
      </p:sp>
      <p:sp>
        <p:nvSpPr>
          <p:cNvPr id="543" name="Shape 543"/>
          <p:cNvSpPr/>
          <p:nvPr/>
        </p:nvSpPr>
        <p:spPr>
          <a:xfrm>
            <a:off x="5349240" y="2990088"/>
            <a:ext cx="457200" cy="457200"/>
          </a:xfrm>
          <a:prstGeom prst="ellipse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</p:spPr>
        <p:txBody>
          <a:bodyPr/>
          <a:p/>
        </p:txBody>
      </p:sp>
      <p:sp>
        <p:nvSpPr>
          <p:cNvPr id="544" name="Text 544"/>
          <p:cNvSpPr txBox="1"/>
          <p:nvPr/>
        </p:nvSpPr>
        <p:spPr>
          <a:xfrm>
            <a:off x="534924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545" name="Text 545"/>
          <p:cNvSpPr txBox="1"/>
          <p:nvPr/>
        </p:nvSpPr>
        <p:spPr>
          <a:xfrm>
            <a:off x="777240" y="287121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400" b="1" dirty="0">
                <a:solidFill>
                  <a:srgbClr val="1E1B16"/>
                </a:solidFill>
              </a:rPr>
              <a:t>رابط طمأنينة للأهل</a:t>
            </a:r>
            <a:endParaRPr lang="en-US" sz="1400" dirty="0"/>
          </a:p>
        </p:txBody>
      </p:sp>
      <p:sp>
        <p:nvSpPr>
          <p:cNvPr id="546" name="Text 546"/>
          <p:cNvSpPr txBox="1"/>
          <p:nvPr/>
        </p:nvSpPr>
        <p:spPr>
          <a:xfrm>
            <a:off x="777240" y="321868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050" dirty="0">
                <a:solidFill>
                  <a:srgbClr val="5B564C"/>
                </a:solidFill>
              </a:rPr>
              <a:t>صفحة عامة تُطمئن الأهل على حال الحاج دون كشف موقعه الدقيق</a:t>
            </a:r>
            <a:endParaRPr lang="en-US" sz="1050" dirty="0"/>
          </a:p>
        </p:txBody>
      </p:sp>
      <p:sp>
        <p:nvSpPr>
          <p:cNvPr id="547" name="Shape 547"/>
          <p:cNvSpPr/>
          <p:nvPr/>
        </p:nvSpPr>
        <p:spPr>
          <a:xfrm>
            <a:off x="548640" y="3840480"/>
            <a:ext cx="5440680" cy="960120"/>
          </a:xfrm>
          <a:prstGeom prst="roundRect">
            <a:avLst>
              <a:gd name="adj" fmla="val 5455"/>
            </a:avLst>
          </a:prstGeom>
          <a:solidFill>
            <a:srgbClr val="FAF3DE"/>
          </a:solidFill>
          <a:ln w="12700">
            <a:solidFill>
              <a:srgbClr val="FAF3DE"/>
            </a:solidFill>
          </a:ln>
        </p:spPr>
        <p:txBody>
          <a:bodyPr/>
          <a:p/>
        </p:txBody>
      </p:sp>
      <p:sp>
        <p:nvSpPr>
          <p:cNvPr id="548" name="Shape 548"/>
          <p:cNvSpPr/>
          <p:nvPr/>
        </p:nvSpPr>
        <p:spPr>
          <a:xfrm>
            <a:off x="5349240" y="4087368"/>
            <a:ext cx="457200" cy="457200"/>
          </a:xfrm>
          <a:prstGeom prst="ellipse">
            <a:avLst/>
          </a:prstGeom>
          <a:solidFill>
            <a:srgbClr val="12332A"/>
          </a:solidFill>
          <a:ln w="12700">
            <a:solidFill>
              <a:srgbClr val="12332A"/>
            </a:solidFill>
          </a:ln>
        </p:spPr>
        <p:txBody>
          <a:bodyPr/>
          <a:p/>
        </p:txBody>
      </p:sp>
      <p:sp>
        <p:nvSpPr>
          <p:cNvPr id="549" name="Text 549"/>
          <p:cNvSpPr txBox="1"/>
          <p:nvPr/>
        </p:nvSpPr>
        <p:spPr>
          <a:xfrm>
            <a:off x="534924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550" name="Text 550"/>
          <p:cNvSpPr txBox="1"/>
          <p:nvPr/>
        </p:nvSpPr>
        <p:spPr>
          <a:xfrm>
            <a:off x="777240" y="396849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400" b="1" dirty="0">
                <a:solidFill>
                  <a:srgbClr val="1E1B16"/>
                </a:solidFill>
              </a:rPr>
              <a:t>رسائل المشرف بلغة كل حاج</a:t>
            </a:r>
            <a:endParaRPr lang="en-US" sz="1400" dirty="0"/>
          </a:p>
        </p:txBody>
      </p:sp>
      <p:sp>
        <p:nvSpPr>
          <p:cNvPr id="551" name="Text 551"/>
          <p:cNvSpPr txBox="1"/>
          <p:nvPr/>
        </p:nvSpPr>
        <p:spPr>
          <a:xfrm>
            <a:off x="777240" y="431596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050" dirty="0">
                <a:solidFill>
                  <a:srgbClr val="5B564C"/>
                </a:solidFill>
              </a:rPr>
              <a:t>رسالة واحدة تصل مترجمة للعربية والإنجليزية والأردية والإندونيسية، مع معرفة من قرأها</a:t>
            </a:r>
            <a:endParaRPr lang="en-US" sz="1050" dirty="0"/>
          </a:p>
        </p:txBody>
      </p:sp>
      <p:sp>
        <p:nvSpPr>
          <p:cNvPr id="552" name="Shape 552"/>
          <p:cNvSpPr/>
          <p:nvPr/>
        </p:nvSpPr>
        <p:spPr>
          <a:xfrm>
            <a:off x="548640" y="4937760"/>
            <a:ext cx="5440680" cy="960120"/>
          </a:xfrm>
          <a:prstGeom prst="roundRect">
            <a:avLst>
              <a:gd name="adj" fmla="val 5455"/>
            </a:avLst>
          </a:prstGeom>
          <a:solidFill>
            <a:srgbClr val="EEF3EE"/>
          </a:solidFill>
          <a:ln w="12700">
            <a:solidFill>
              <a:srgbClr val="EEF3EE"/>
            </a:solidFill>
          </a:ln>
        </p:spPr>
        <p:txBody>
          <a:bodyPr/>
          <a:p/>
        </p:txBody>
      </p:sp>
      <p:sp>
        <p:nvSpPr>
          <p:cNvPr id="553" name="Shape 553"/>
          <p:cNvSpPr/>
          <p:nvPr/>
        </p:nvSpPr>
        <p:spPr>
          <a:xfrm>
            <a:off x="5349240" y="5184648"/>
            <a:ext cx="457200" cy="457200"/>
          </a:xfrm>
          <a:prstGeom prst="ellipse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</p:spPr>
        <p:txBody>
          <a:bodyPr/>
          <a:p/>
        </p:txBody>
      </p:sp>
      <p:sp>
        <p:nvSpPr>
          <p:cNvPr id="554" name="Text 554"/>
          <p:cNvSpPr txBox="1"/>
          <p:nvPr/>
        </p:nvSpPr>
        <p:spPr>
          <a:xfrm>
            <a:off x="5349240" y="5184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555" name="Text 555"/>
          <p:cNvSpPr txBox="1"/>
          <p:nvPr/>
        </p:nvSpPr>
        <p:spPr>
          <a:xfrm>
            <a:off x="777240" y="506577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400" b="1" dirty="0">
                <a:solidFill>
                  <a:srgbClr val="1E1B16"/>
                </a:solidFill>
              </a:rPr>
              <a:t>«حجّي» وأدوات التشغيل</a:t>
            </a:r>
            <a:endParaRPr lang="en-US" sz="1400" dirty="0"/>
          </a:p>
        </p:txBody>
      </p:sp>
      <p:sp>
        <p:nvSpPr>
          <p:cNvPr id="556" name="Text 556"/>
          <p:cNvSpPr txBox="1"/>
          <p:nvPr/>
        </p:nvSpPr>
        <p:spPr>
          <a:xfrm>
            <a:off x="777240" y="541324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050" dirty="0">
                <a:solidFill>
                  <a:srgbClr val="5B564C"/>
                </a:solidFill>
              </a:rPr>
              <a:t>دليل اليوم وعدّاد الطواف والسعي والجمرات، والمفقودات، وقائمة التجهيز، وتقرير نهاية الحج</a:t>
            </a:r>
            <a:endParaRPr lang="en-US" sz="1050" dirty="0"/>
          </a:p>
        </p:txBody>
      </p:sp>
      <p:sp>
        <p:nvSpPr>
          <p:cNvPr id="557" name="Text 557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100" b="1" dirty="0">
                <a:solidFill>
                  <a:srgbClr val="1E4D3D"/>
                </a:solidFill>
              </a:rPr>
              <a:t>كل ميزة لها جدولها ودالتها على القاعدة الحية — التفاصيل في مصفوفة التكافؤ (31 ميزة)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56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2332A"/>
                </a:solidFill>
              </a:rPr>
              <a:t>قسم الحج في لوحة التحكم  —  5 صفحات جديدة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B564C"/>
                </a:solidFill>
              </a:rPr>
              <a:t>للإدارة ومركز العمليات، كلها تقرأ من القاعدة الحية وتتحدّث تلقائيًا</a:t>
            </a:r>
            <a:endParaRPr lang="en-US" sz="1300" dirty="0"/>
          </a:p>
        </p:txBody>
      </p:sp>
      <p:pic>
        <p:nvPicPr>
          <p:cNvPr id="558" name="لقطة المتابعة الذكية" descr="صفحة المتابعة الذكية في لوحة التحكم"/>
          <p:cNvPicPr>
            <a:picLocks noChangeAspect="1"/>
          </p:cNvPicPr>
          <p:nvPr/>
        </p:nvPicPr>
        <p:blipFill>
          <a:blip r:embed="rIdV4a"/>
          <a:stretch>
            <a:fillRect/>
          </a:stretch>
        </p:blipFill>
        <p:spPr>
          <a:xfrm>
            <a:off x="548640" y="1600200"/>
            <a:ext cx="6949440" cy="4343400"/>
          </a:xfrm>
          <a:prstGeom prst="roundRect">
            <a:avLst>
              <a:gd name="adj" fmla="val 3000"/>
            </a:avLst>
          </a:prstGeom>
          <a:ln w="12700">
            <a:solidFill>
              <a:srgbClr val="E4DCC8"/>
            </a:solidFill>
          </a:ln>
        </p:spPr>
      </p:pic>
      <p:sp>
        <p:nvSpPr>
          <p:cNvPr id="559" name="Shape 559"/>
          <p:cNvSpPr/>
          <p:nvPr/>
        </p:nvSpPr>
        <p:spPr>
          <a:xfrm>
            <a:off x="11155680" y="1673352"/>
            <a:ext cx="457200" cy="457200"/>
          </a:xfrm>
          <a:prstGeom prst="ellipse">
            <a:avLst/>
          </a:prstGeom>
          <a:solidFill>
            <a:srgbClr val="12332A"/>
          </a:solidFill>
          <a:ln w="12700">
            <a:solidFill>
              <a:srgbClr val="12332A"/>
            </a:solidFill>
          </a:ln>
        </p:spPr>
        <p:txBody>
          <a:bodyPr/>
          <a:p/>
        </p:txBody>
      </p:sp>
      <p:sp>
        <p:nvSpPr>
          <p:cNvPr id="560" name="Text 560"/>
          <p:cNvSpPr txBox="1"/>
          <p:nvPr/>
        </p:nvSpPr>
        <p:spPr>
          <a:xfrm>
            <a:off x="1115568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61" name="Text 561"/>
          <p:cNvSpPr txBox="1"/>
          <p:nvPr/>
        </p:nvSpPr>
        <p:spPr>
          <a:xfrm>
            <a:off x="7818120" y="16002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400" b="1" dirty="0">
                <a:solidFill>
                  <a:srgbClr val="1E1B16"/>
                </a:solidFill>
              </a:rPr>
              <a:t>المتابعة الذكية</a:t>
            </a:r>
            <a:endParaRPr lang="en-US" sz="1400" dirty="0"/>
          </a:p>
        </p:txBody>
      </p:sp>
      <p:sp>
        <p:nvSpPr>
          <p:cNvPr id="562" name="Text 562"/>
          <p:cNvSpPr txBox="1"/>
          <p:nvPr/>
        </p:nvSpPr>
        <p:spPr>
          <a:xfrm>
            <a:off x="7818120" y="1965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050" dirty="0">
                <a:solidFill>
                  <a:srgbClr val="5B564C"/>
                </a:solidFill>
              </a:rPr>
              <a:t>خطر الضياع، الرفيق، الحرارة، الحشود، جاهزية الحافلة</a:t>
            </a:r>
            <a:endParaRPr lang="en-US" sz="1050" dirty="0"/>
          </a:p>
        </p:txBody>
      </p:sp>
      <p:sp>
        <p:nvSpPr>
          <p:cNvPr id="563" name="Shape 563"/>
          <p:cNvSpPr/>
          <p:nvPr/>
        </p:nvSpPr>
        <p:spPr>
          <a:xfrm>
            <a:off x="11155680" y="2560320"/>
            <a:ext cx="457200" cy="457200"/>
          </a:xfrm>
          <a:prstGeom prst="ellipse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</p:spPr>
        <p:txBody>
          <a:bodyPr/>
          <a:p/>
        </p:txBody>
      </p:sp>
      <p:sp>
        <p:nvSpPr>
          <p:cNvPr id="564" name="Text 564"/>
          <p:cNvSpPr txBox="1"/>
          <p:nvPr/>
        </p:nvSpPr>
        <p:spPr>
          <a:xfrm>
            <a:off x="111556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565" name="Text 565"/>
          <p:cNvSpPr txBox="1"/>
          <p:nvPr/>
        </p:nvSpPr>
        <p:spPr>
          <a:xfrm>
            <a:off x="7818120" y="24871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400" b="1" dirty="0">
                <a:solidFill>
                  <a:srgbClr val="1E1B16"/>
                </a:solidFill>
              </a:rPr>
              <a:t>حدود المشاعر</a:t>
            </a:r>
            <a:endParaRPr lang="en-US" sz="1400" dirty="0"/>
          </a:p>
        </p:txBody>
      </p:sp>
      <p:sp>
        <p:nvSpPr>
          <p:cNvPr id="566" name="Text 566"/>
          <p:cNvSpPr txBox="1"/>
          <p:nvPr/>
        </p:nvSpPr>
        <p:spPr>
          <a:xfrm>
            <a:off x="7818120" y="28529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050" dirty="0">
                <a:solidFill>
                  <a:srgbClr val="5B564C"/>
                </a:solidFill>
              </a:rPr>
              <a:t>داخل الحد أو خارجه على الخريطة، وتقرير المبيت بمنى</a:t>
            </a:r>
            <a:endParaRPr lang="en-US" sz="1050" dirty="0"/>
          </a:p>
        </p:txBody>
      </p:sp>
      <p:sp>
        <p:nvSpPr>
          <p:cNvPr id="567" name="Shape 567"/>
          <p:cNvSpPr/>
          <p:nvPr/>
        </p:nvSpPr>
        <p:spPr>
          <a:xfrm>
            <a:off x="11155680" y="3447288"/>
            <a:ext cx="457200" cy="457200"/>
          </a:xfrm>
          <a:prstGeom prst="ellipse">
            <a:avLst/>
          </a:prstGeom>
          <a:solidFill>
            <a:srgbClr val="12332A"/>
          </a:solidFill>
          <a:ln w="12700">
            <a:solidFill>
              <a:srgbClr val="12332A"/>
            </a:solidFill>
          </a:ln>
        </p:spPr>
        <p:txBody>
          <a:bodyPr/>
          <a:p/>
        </p:txBody>
      </p:sp>
      <p:sp>
        <p:nvSpPr>
          <p:cNvPr id="568" name="Text 568"/>
          <p:cNvSpPr txBox="1"/>
          <p:nvPr/>
        </p:nvSpPr>
        <p:spPr>
          <a:xfrm>
            <a:off x="1115568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569" name="Text 569"/>
          <p:cNvSpPr txBox="1"/>
          <p:nvPr/>
        </p:nvSpPr>
        <p:spPr>
          <a:xfrm>
            <a:off x="7818120" y="33741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400" b="1" dirty="0">
                <a:solidFill>
                  <a:srgbClr val="1E1B16"/>
                </a:solidFill>
              </a:rPr>
              <a:t>الصحة</a:t>
            </a:r>
            <a:endParaRPr lang="en-US" sz="1400" dirty="0"/>
          </a:p>
        </p:txBody>
      </p:sp>
      <p:sp>
        <p:nvSpPr>
          <p:cNvPr id="570" name="Text 570"/>
          <p:cNvSpPr txBox="1"/>
          <p:nvPr/>
        </p:nvSpPr>
        <p:spPr>
          <a:xfrm>
            <a:off x="7818120" y="37398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050" dirty="0">
                <a:solidFill>
                  <a:srgbClr val="5B564C"/>
                </a:solidFill>
              </a:rPr>
              <a:t>الأدوية والجرعات، «أنت بخير؟»، بطاقة المسعف</a:t>
            </a:r>
            <a:endParaRPr lang="en-US" sz="1050" dirty="0"/>
          </a:p>
        </p:txBody>
      </p:sp>
      <p:sp>
        <p:nvSpPr>
          <p:cNvPr id="571" name="Shape 571"/>
          <p:cNvSpPr/>
          <p:nvPr/>
        </p:nvSpPr>
        <p:spPr>
          <a:xfrm>
            <a:off x="11155680" y="4334256"/>
            <a:ext cx="457200" cy="457200"/>
          </a:xfrm>
          <a:prstGeom prst="ellipse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</p:spPr>
        <p:txBody>
          <a:bodyPr/>
          <a:p/>
        </p:txBody>
      </p:sp>
      <p:sp>
        <p:nvSpPr>
          <p:cNvPr id="572" name="Text 572"/>
          <p:cNvSpPr txBox="1"/>
          <p:nvPr/>
        </p:nvSpPr>
        <p:spPr>
          <a:xfrm>
            <a:off x="1115568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573" name="Text 573"/>
          <p:cNvSpPr txBox="1"/>
          <p:nvPr/>
        </p:nvSpPr>
        <p:spPr>
          <a:xfrm>
            <a:off x="7818120" y="42611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400" b="1" dirty="0">
                <a:solidFill>
                  <a:srgbClr val="1E1B16"/>
                </a:solidFill>
              </a:rPr>
              <a:t>الأهل والرسائل</a:t>
            </a:r>
            <a:endParaRPr lang="en-US" sz="1400" dirty="0"/>
          </a:p>
        </p:txBody>
      </p:sp>
      <p:sp>
        <p:nvSpPr>
          <p:cNvPr id="574" name="Text 574"/>
          <p:cNvSpPr txBox="1"/>
          <p:nvPr/>
        </p:nvSpPr>
        <p:spPr>
          <a:xfrm>
            <a:off x="7818120" y="462686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050" dirty="0">
                <a:solidFill>
                  <a:srgbClr val="5B564C"/>
                </a:solidFill>
              </a:rPr>
              <a:t>روابط الطمأنينة والرسائل المترجمة ومن قرأها</a:t>
            </a:r>
            <a:endParaRPr lang="en-US" sz="1050" dirty="0"/>
          </a:p>
        </p:txBody>
      </p:sp>
      <p:sp>
        <p:nvSpPr>
          <p:cNvPr id="575" name="Shape 575"/>
          <p:cNvSpPr/>
          <p:nvPr/>
        </p:nvSpPr>
        <p:spPr>
          <a:xfrm>
            <a:off x="11155680" y="5221224"/>
            <a:ext cx="457200" cy="457200"/>
          </a:xfrm>
          <a:prstGeom prst="ellipse">
            <a:avLst/>
          </a:prstGeom>
          <a:solidFill>
            <a:srgbClr val="12332A"/>
          </a:solidFill>
          <a:ln w="12700">
            <a:solidFill>
              <a:srgbClr val="12332A"/>
            </a:solidFill>
          </a:ln>
        </p:spPr>
        <p:txBody>
          <a:bodyPr/>
          <a:p/>
        </p:txBody>
      </p:sp>
      <p:sp>
        <p:nvSpPr>
          <p:cNvPr id="576" name="Text 576"/>
          <p:cNvSpPr txBox="1"/>
          <p:nvPr/>
        </p:nvSpPr>
        <p:spPr>
          <a:xfrm>
            <a:off x="11155680" y="5221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577" name="Text 577"/>
          <p:cNvSpPr txBox="1"/>
          <p:nvPr/>
        </p:nvSpPr>
        <p:spPr>
          <a:xfrm>
            <a:off x="7818120" y="51480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400" b="1" dirty="0">
                <a:solidFill>
                  <a:srgbClr val="1E1B16"/>
                </a:solidFill>
              </a:rPr>
              <a:t>التشغيل</a:t>
            </a:r>
            <a:endParaRPr lang="en-US" sz="1400" dirty="0"/>
          </a:p>
        </p:txBody>
      </p:sp>
      <p:sp>
        <p:nvSpPr>
          <p:cNvPr id="578" name="Text 578"/>
          <p:cNvSpPr txBox="1"/>
          <p:nvPr/>
        </p:nvSpPr>
        <p:spPr>
          <a:xfrm>
            <a:off x="7818120" y="55138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050" dirty="0">
                <a:solidFill>
                  <a:srgbClr val="5B564C"/>
                </a:solidFill>
              </a:rPr>
              <a:t>المفقودات، جاهزية التجهيز، تقرير نهاية الحج</a:t>
            </a:r>
            <a:endParaRPr lang="en-US" sz="1050" dirty="0"/>
          </a:p>
        </p:txBody>
      </p:sp>
      <p:sp>
        <p:nvSpPr>
          <p:cNvPr id="579" name="Text 579"/>
          <p:cNvSpPr txBox="1"/>
          <p:nvPr/>
        </p:nvSpPr>
        <p:spPr>
          <a:xfrm>
            <a:off x="548640" y="605332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000" dirty="0">
                <a:solidFill>
                  <a:srgbClr val="9C9585"/>
                </a:solidFill>
              </a:rPr>
              <a:t>لقطة حقيقية من اللوحة بعد تشغيل سيناريو منى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56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2332A"/>
                </a:solidFill>
              </a:rPr>
              <a:t>صفحة «حجّي» في تطبيق الحاج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B564C"/>
                </a:solidFill>
              </a:rPr>
              <a:t>كل ما يحتاجه الحاج في أيام المناسك في صفحة واحدة، بلغته (4 لغات)</a:t>
            </a:r>
            <a:endParaRPr lang="en-US" sz="1300" dirty="0"/>
          </a:p>
        </p:txBody>
      </p:sp>
      <p:pic>
        <p:nvPicPr>
          <p:cNvPr id="580" name="لقطة حجي ١" descr="أعلى صفحة حجي: الهجري والصلاة والقبلة"/>
          <p:cNvPicPr>
            <a:picLocks noChangeAspect="1"/>
          </p:cNvPicPr>
          <p:nvPr/>
        </p:nvPicPr>
        <p:blipFill>
          <a:blip r:embed="rIdV4b"/>
          <a:stretch>
            <a:fillRect/>
          </a:stretch>
        </p:blipFill>
        <p:spPr>
          <a:xfrm>
            <a:off x="548640" y="1554480"/>
            <a:ext cx="2569464" cy="4572000"/>
          </a:xfrm>
          <a:prstGeom prst="roundRect">
            <a:avLst>
              <a:gd name="adj" fmla="val 3000"/>
            </a:avLst>
          </a:prstGeom>
          <a:ln w="12700">
            <a:solidFill>
              <a:srgbClr val="E4DCC8"/>
            </a:solidFill>
          </a:ln>
        </p:spPr>
      </p:pic>
      <p:pic>
        <p:nvPicPr>
          <p:cNvPr id="581" name="لقطة حجي ٢" descr="أسفل صفحة حجي: العدادات والأدوية والرسائل"/>
          <p:cNvPicPr>
            <a:picLocks noChangeAspect="1"/>
          </p:cNvPicPr>
          <p:nvPr/>
        </p:nvPicPr>
        <p:blipFill>
          <a:blip r:embed="rIdV4c"/>
          <a:stretch>
            <a:fillRect/>
          </a:stretch>
        </p:blipFill>
        <p:spPr>
          <a:xfrm>
            <a:off x="3337560" y="1554480"/>
            <a:ext cx="2569464" cy="4572000"/>
          </a:xfrm>
          <a:prstGeom prst="roundRect">
            <a:avLst>
              <a:gd name="adj" fmla="val 3000"/>
            </a:avLst>
          </a:prstGeom>
          <a:ln w="12700">
            <a:solidFill>
              <a:srgbClr val="E4DCC8"/>
            </a:solidFill>
          </a:ln>
        </p:spPr>
      </p:pic>
      <p:sp>
        <p:nvSpPr>
          <p:cNvPr id="582" name="Shape 582"/>
          <p:cNvSpPr/>
          <p:nvPr/>
        </p:nvSpPr>
        <p:spPr>
          <a:xfrm>
            <a:off x="11155680" y="1609344"/>
            <a:ext cx="438912" cy="438912"/>
          </a:xfrm>
          <a:prstGeom prst="ellipse">
            <a:avLst/>
          </a:prstGeom>
          <a:solidFill>
            <a:srgbClr val="12332A"/>
          </a:solidFill>
          <a:ln w="12700">
            <a:solidFill>
              <a:srgbClr val="12332A"/>
            </a:solidFill>
          </a:ln>
        </p:spPr>
        <p:txBody>
          <a:bodyPr/>
          <a:p/>
        </p:txBody>
      </p:sp>
      <p:sp>
        <p:nvSpPr>
          <p:cNvPr id="583" name="Text 583"/>
          <p:cNvSpPr txBox="1"/>
          <p:nvPr/>
        </p:nvSpPr>
        <p:spPr>
          <a:xfrm>
            <a:off x="11155680" y="1609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84" name="Text 584"/>
          <p:cNvSpPr txBox="1"/>
          <p:nvPr/>
        </p:nvSpPr>
        <p:spPr>
          <a:xfrm>
            <a:off x="6309360" y="155448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400" b="1" dirty="0">
                <a:solidFill>
                  <a:srgbClr val="1E1B16"/>
                </a:solidFill>
              </a:rPr>
              <a:t>التاريخ الهجري ويوم الحج</a:t>
            </a:r>
            <a:endParaRPr lang="en-US" sz="1400" dirty="0"/>
          </a:p>
        </p:txBody>
      </p:sp>
      <p:sp>
        <p:nvSpPr>
          <p:cNvPr id="585" name="Text 585"/>
          <p:cNvSpPr txBox="1"/>
          <p:nvPr/>
        </p:nvSpPr>
        <p:spPr>
          <a:xfrm>
            <a:off x="6309360" y="19019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050" dirty="0">
                <a:solidFill>
                  <a:srgbClr val="5B564C"/>
                </a:solidFill>
              </a:rPr>
              <a:t>يعرف اليوم (التروية، عرفة، النحر…) ويعرض دليله بلغة الحاج</a:t>
            </a:r>
            <a:endParaRPr lang="en-US" sz="1050" dirty="0"/>
          </a:p>
        </p:txBody>
      </p:sp>
      <p:sp>
        <p:nvSpPr>
          <p:cNvPr id="586" name="Shape 586"/>
          <p:cNvSpPr/>
          <p:nvPr/>
        </p:nvSpPr>
        <p:spPr>
          <a:xfrm>
            <a:off x="11155680" y="2377440"/>
            <a:ext cx="438912" cy="438912"/>
          </a:xfrm>
          <a:prstGeom prst="ellipse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</p:spPr>
        <p:txBody>
          <a:bodyPr/>
          <a:p/>
        </p:txBody>
      </p:sp>
      <p:sp>
        <p:nvSpPr>
          <p:cNvPr id="587" name="Text 587"/>
          <p:cNvSpPr txBox="1"/>
          <p:nvPr/>
        </p:nvSpPr>
        <p:spPr>
          <a:xfrm>
            <a:off x="11155680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588" name="Text 588"/>
          <p:cNvSpPr txBox="1"/>
          <p:nvPr/>
        </p:nvSpPr>
        <p:spPr>
          <a:xfrm>
            <a:off x="6309360" y="232257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400" b="1" dirty="0">
                <a:solidFill>
                  <a:srgbClr val="1E1B16"/>
                </a:solidFill>
              </a:rPr>
              <a:t>مواقيت الصلاة والقبلة</a:t>
            </a:r>
            <a:endParaRPr lang="en-US" sz="1400" dirty="0"/>
          </a:p>
        </p:txBody>
      </p:sp>
      <p:sp>
        <p:nvSpPr>
          <p:cNvPr id="589" name="Text 589"/>
          <p:cNvSpPr txBox="1"/>
          <p:nvPr/>
        </p:nvSpPr>
        <p:spPr>
          <a:xfrm>
            <a:off x="6309360" y="26700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050" dirty="0">
                <a:solidFill>
                  <a:srgbClr val="5B564C"/>
                </a:solidFill>
              </a:rPr>
              <a:t>تُحسب على الجوال بتقويم أم القرى، وتعمل بدون إنترنت</a:t>
            </a:r>
            <a:endParaRPr lang="en-US" sz="1050" dirty="0"/>
          </a:p>
        </p:txBody>
      </p:sp>
      <p:sp>
        <p:nvSpPr>
          <p:cNvPr id="590" name="Shape 590"/>
          <p:cNvSpPr/>
          <p:nvPr/>
        </p:nvSpPr>
        <p:spPr>
          <a:xfrm>
            <a:off x="11155680" y="3145536"/>
            <a:ext cx="438912" cy="438912"/>
          </a:xfrm>
          <a:prstGeom prst="ellipse">
            <a:avLst/>
          </a:prstGeom>
          <a:solidFill>
            <a:srgbClr val="12332A"/>
          </a:solidFill>
          <a:ln w="12700">
            <a:solidFill>
              <a:srgbClr val="12332A"/>
            </a:solidFill>
          </a:ln>
        </p:spPr>
        <p:txBody>
          <a:bodyPr/>
          <a:p/>
        </p:txBody>
      </p:sp>
      <p:sp>
        <p:nvSpPr>
          <p:cNvPr id="591" name="Text 591"/>
          <p:cNvSpPr txBox="1"/>
          <p:nvPr/>
        </p:nvSpPr>
        <p:spPr>
          <a:xfrm>
            <a:off x="11155680" y="3145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592" name="Text 592"/>
          <p:cNvSpPr txBox="1"/>
          <p:nvPr/>
        </p:nvSpPr>
        <p:spPr>
          <a:xfrm>
            <a:off x="6309360" y="30906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400" b="1" dirty="0">
                <a:solidFill>
                  <a:srgbClr val="1E1B16"/>
                </a:solidFill>
              </a:rPr>
              <a:t>عدّاد المناسك</a:t>
            </a:r>
            <a:endParaRPr lang="en-US" sz="1400" dirty="0"/>
          </a:p>
        </p:txBody>
      </p:sp>
      <p:sp>
        <p:nvSpPr>
          <p:cNvPr id="593" name="Text 593"/>
          <p:cNvSpPr txBox="1"/>
          <p:nvPr/>
        </p:nvSpPr>
        <p:spPr>
          <a:xfrm>
            <a:off x="6309360" y="34381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050" dirty="0">
                <a:solidFill>
                  <a:srgbClr val="5B564C"/>
                </a:solidFill>
              </a:rPr>
              <a:t>الطواف والسعي والجمرات بالترتيب الشرعي، ويُحفظ في القاعدة</a:t>
            </a:r>
            <a:endParaRPr lang="en-US" sz="1050" dirty="0"/>
          </a:p>
        </p:txBody>
      </p:sp>
      <p:sp>
        <p:nvSpPr>
          <p:cNvPr id="594" name="Shape 594"/>
          <p:cNvSpPr/>
          <p:nvPr/>
        </p:nvSpPr>
        <p:spPr>
          <a:xfrm>
            <a:off x="11155680" y="3913632"/>
            <a:ext cx="438912" cy="438912"/>
          </a:xfrm>
          <a:prstGeom prst="ellipse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</p:spPr>
        <p:txBody>
          <a:bodyPr/>
          <a:p/>
        </p:txBody>
      </p:sp>
      <p:sp>
        <p:nvSpPr>
          <p:cNvPr id="595" name="Text 595"/>
          <p:cNvSpPr txBox="1"/>
          <p:nvPr/>
        </p:nvSpPr>
        <p:spPr>
          <a:xfrm>
            <a:off x="11155680" y="3913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596" name="Text 596"/>
          <p:cNvSpPr txBox="1"/>
          <p:nvPr/>
        </p:nvSpPr>
        <p:spPr>
          <a:xfrm>
            <a:off x="6309360" y="385876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400" b="1" dirty="0">
                <a:solidFill>
                  <a:srgbClr val="1E1B16"/>
                </a:solidFill>
              </a:rPr>
              <a:t>أدويتي اليوم</a:t>
            </a:r>
            <a:endParaRPr lang="en-US" sz="1400" dirty="0"/>
          </a:p>
        </p:txBody>
      </p:sp>
      <p:sp>
        <p:nvSpPr>
          <p:cNvPr id="597" name="Text 597"/>
          <p:cNvSpPr txBox="1"/>
          <p:nvPr/>
        </p:nvSpPr>
        <p:spPr>
          <a:xfrm>
            <a:off x="6309360" y="4206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050" dirty="0">
                <a:solidFill>
                  <a:srgbClr val="5B564C"/>
                </a:solidFill>
              </a:rPr>
              <a:t>الجرعات بأوقاتها وزر «أخذتها»، وإضافة دواء</a:t>
            </a:r>
            <a:endParaRPr lang="en-US" sz="1050" dirty="0"/>
          </a:p>
        </p:txBody>
      </p:sp>
      <p:sp>
        <p:nvSpPr>
          <p:cNvPr id="598" name="Shape 598"/>
          <p:cNvSpPr/>
          <p:nvPr/>
        </p:nvSpPr>
        <p:spPr>
          <a:xfrm>
            <a:off x="11155680" y="4681728"/>
            <a:ext cx="438912" cy="438912"/>
          </a:xfrm>
          <a:prstGeom prst="ellipse">
            <a:avLst/>
          </a:prstGeom>
          <a:solidFill>
            <a:srgbClr val="12332A"/>
          </a:solidFill>
          <a:ln w="12700">
            <a:solidFill>
              <a:srgbClr val="12332A"/>
            </a:solidFill>
          </a:ln>
        </p:spPr>
        <p:txBody>
          <a:bodyPr/>
          <a:p/>
        </p:txBody>
      </p:sp>
      <p:sp>
        <p:nvSpPr>
          <p:cNvPr id="599" name="Text 599"/>
          <p:cNvSpPr txBox="1"/>
          <p:nvPr/>
        </p:nvSpPr>
        <p:spPr>
          <a:xfrm>
            <a:off x="11155680" y="4681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600" name="Text 600"/>
          <p:cNvSpPr txBox="1"/>
          <p:nvPr/>
        </p:nvSpPr>
        <p:spPr>
          <a:xfrm>
            <a:off x="6309360" y="462686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400" b="1" dirty="0">
                <a:solidFill>
                  <a:srgbClr val="1E1B16"/>
                </a:solidFill>
              </a:rPr>
              <a:t>رسائل المشرف بلغتك</a:t>
            </a:r>
            <a:endParaRPr lang="en-US" sz="1400" dirty="0"/>
          </a:p>
        </p:txBody>
      </p:sp>
      <p:sp>
        <p:nvSpPr>
          <p:cNvPr id="601" name="Text 601"/>
          <p:cNvSpPr txBox="1"/>
          <p:nvPr/>
        </p:nvSpPr>
        <p:spPr>
          <a:xfrm>
            <a:off x="6309360" y="49743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050" dirty="0">
                <a:solidFill>
                  <a:srgbClr val="5B564C"/>
                </a:solidFill>
              </a:rPr>
              <a:t>تصل بلغتك كما كتبها المشرف، وزر «قرأتها» يصل للمشرف</a:t>
            </a:r>
            <a:endParaRPr lang="en-US" sz="1050" dirty="0"/>
          </a:p>
        </p:txBody>
      </p:sp>
      <p:sp>
        <p:nvSpPr>
          <p:cNvPr id="602" name="Shape 602"/>
          <p:cNvSpPr/>
          <p:nvPr/>
        </p:nvSpPr>
        <p:spPr>
          <a:xfrm>
            <a:off x="11155680" y="5449824"/>
            <a:ext cx="438912" cy="438912"/>
          </a:xfrm>
          <a:prstGeom prst="ellipse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</p:spPr>
        <p:txBody>
          <a:bodyPr/>
          <a:p/>
        </p:txBody>
      </p:sp>
      <p:sp>
        <p:nvSpPr>
          <p:cNvPr id="603" name="Text 603"/>
          <p:cNvSpPr txBox="1"/>
          <p:nvPr/>
        </p:nvSpPr>
        <p:spPr>
          <a:xfrm>
            <a:off x="11155680" y="54498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604" name="Text 604"/>
          <p:cNvSpPr txBox="1"/>
          <p:nvPr/>
        </p:nvSpPr>
        <p:spPr>
          <a:xfrm>
            <a:off x="6309360" y="539496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400" b="1" dirty="0">
                <a:solidFill>
                  <a:srgbClr val="1E1B16"/>
                </a:solidFill>
              </a:rPr>
              <a:t>المفقودات و«أنت بخير؟»</a:t>
            </a:r>
            <a:endParaRPr lang="en-US" sz="1400" dirty="0"/>
          </a:p>
        </p:txBody>
      </p:sp>
      <p:sp>
        <p:nvSpPr>
          <p:cNvPr id="605" name="Text 605"/>
          <p:cNvSpPr txBox="1"/>
          <p:nvPr/>
        </p:nvSpPr>
        <p:spPr>
          <a:xfrm>
            <a:off x="6309360" y="57424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050" dirty="0">
                <a:solidFill>
                  <a:srgbClr val="5B564C"/>
                </a:solidFill>
              </a:rPr>
              <a:t>بلاغ عن غرض مفقود، وسؤال تلقائي إذا توقفت الحركة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56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التحقق والاختبار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B9C2B6"/>
                </a:solidFill>
              </a:rPr>
              <a:t>كل ميزة جُرّبت على نسخة مطابقة للقاعدة الحية، ثم على القاعدة نفسها وعلى الموقع المنشور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546336" y="2194560"/>
            <a:ext cx="2066544" cy="2514600"/>
          </a:xfrm>
          <a:prstGeom prst="roundRect">
            <a:avLst>
              <a:gd name="adj" fmla="val 5310"/>
            </a:avLst>
          </a:prstGeom>
          <a:solidFill>
            <a:srgbClr val="1E4D3D"/>
          </a:solidFill>
          <a:ln w="12700">
            <a:solidFill>
              <a:srgbClr val="1E4D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37776" y="237744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4A"/>
                </a:solidFill>
              </a:rPr>
              <a:t>54/54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9637776" y="315468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اختبار واجهة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83496" y="365760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B9C2B6"/>
                </a:solidFill>
              </a:rPr>
              <a:t>آلية على اللوحة والتطبيق، كلها ناجحة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296912" y="2194560"/>
            <a:ext cx="2066544" cy="2514600"/>
          </a:xfrm>
          <a:prstGeom prst="roundRect">
            <a:avLst>
              <a:gd name="adj" fmla="val 5310"/>
            </a:avLst>
          </a:prstGeom>
          <a:solidFill>
            <a:srgbClr val="1E4D3D"/>
          </a:solidFill>
          <a:ln w="12700">
            <a:solidFill>
              <a:srgbClr val="1E4D3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388352" y="237744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4A"/>
                </a:solidFill>
              </a:rPr>
              <a:t>0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7388352" y="315468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أخطاء Flutter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434072" y="365760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B9C2B6"/>
                </a:solidFill>
              </a:rPr>
              <a:t>التحليل والبناء ناجحان، والتطبيق منشور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47488" y="2194560"/>
            <a:ext cx="2066544" cy="2514600"/>
          </a:xfrm>
          <a:prstGeom prst="roundRect">
            <a:avLst>
              <a:gd name="adj" fmla="val 5310"/>
            </a:avLst>
          </a:prstGeom>
          <a:solidFill>
            <a:srgbClr val="1E4D3D"/>
          </a:solidFill>
          <a:ln w="12700">
            <a:solidFill>
              <a:srgbClr val="1E4D3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138928" y="237744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4A"/>
                </a:solidFill>
              </a:rPr>
              <a:t>38/38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5138928" y="315468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Row Level Security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84648" y="365760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B9C2B6"/>
                </a:solidFill>
              </a:rPr>
              <a:t>حتى الجداول الجديدة، بلا استثناء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98064" y="2194560"/>
            <a:ext cx="2066544" cy="2514600"/>
          </a:xfrm>
          <a:prstGeom prst="roundRect">
            <a:avLst>
              <a:gd name="adj" fmla="val 5310"/>
            </a:avLst>
          </a:prstGeom>
          <a:solidFill>
            <a:srgbClr val="1E4D3D"/>
          </a:solidFill>
          <a:ln w="12700">
            <a:solidFill>
              <a:srgbClr val="1E4D3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2889504" y="237744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4A"/>
                </a:solidFill>
              </a:rPr>
              <a:t>76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2889504" y="315468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دالة ‎app_*‎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935224" y="365760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B9C2B6"/>
                </a:solidFill>
              </a:rPr>
              <a:t>منها 42 جديدة للحج، وكلها تتحقق من الجلسة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194560"/>
            <a:ext cx="2066544" cy="2514600"/>
          </a:xfrm>
          <a:prstGeom prst="roundRect">
            <a:avLst>
              <a:gd name="adj" fmla="val 5310"/>
            </a:avLst>
          </a:prstGeom>
          <a:solidFill>
            <a:srgbClr val="1E4D3D"/>
          </a:solidFill>
          <a:ln w="12700">
            <a:solidFill>
              <a:srgbClr val="1E4D3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40080" y="237744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4A"/>
                </a:solidFill>
              </a:rPr>
              <a:t>4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15468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تحديثات للقاعدة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65760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B9C2B6"/>
                </a:solidFill>
              </a:rPr>
              <a:t>v4.1 ← v4.4 طُبّقت على القاعدة الحية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C2B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2332A"/>
                </a:solidFill>
              </a:rPr>
              <a:t>بيانات تجريبية مُحمَّلة ومُتحقَّق منها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B564C"/>
                </a:solidFill>
              </a:rPr>
              <a:t>بيانات الإصدار 2.1 للجداول الأساسية (أدناه)، ثم بيانات v3/v4 تملأ الجداول الـ17 الجديدة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149840" y="164592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14984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B16"/>
                </a:solidFill>
              </a:rPr>
              <a:t>13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563356" y="164592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FAF3DE"/>
          </a:solidFill>
          <a:ln w="12700">
            <a:solidFill>
              <a:srgbClr val="FAF3D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563356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B16"/>
                </a:solidFill>
              </a:rPr>
              <a:t>9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8563356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pilgrims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76872" y="164592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976872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B16"/>
                </a:solidFill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976872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supervisors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90388" y="164592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FAF3DE"/>
          </a:solidFill>
          <a:ln w="12700">
            <a:solidFill>
              <a:srgbClr val="FAF3D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5390388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B16"/>
                </a:solidFill>
              </a:rPr>
              <a:t>10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5390388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emergency_contacts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03904" y="164592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3803904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B16"/>
                </a:solidFill>
              </a:rPr>
              <a:t>—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3803904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app_sessions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17420" y="164592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FAF3DE"/>
          </a:solidFill>
          <a:ln w="12700">
            <a:solidFill>
              <a:srgbClr val="FAF3D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221742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B16"/>
                </a:solidFill>
              </a:rPr>
              <a:t>1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2217420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campaigns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" y="164592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30936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B16"/>
                </a:solidFill>
              </a:rPr>
              <a:t>2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149840" y="301752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FAF3DE"/>
          </a:solidFill>
          <a:ln w="12700">
            <a:solidFill>
              <a:srgbClr val="FAF3DE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10149840" y="3154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B16"/>
                </a:solidFill>
              </a:rPr>
              <a:t>8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0" y="3749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rituals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563356" y="301752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8563356" y="3154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B16"/>
                </a:solidFill>
              </a:rPr>
              <a:t>7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8563356" y="3749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76872" y="301752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FAF3DE"/>
          </a:solidFill>
          <a:ln w="12700">
            <a:solidFill>
              <a:srgbClr val="FAF3D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6976872" y="3154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B16"/>
                </a:solidFill>
              </a:rPr>
              <a:t>8</a:t>
            </a:r>
            <a:endParaRPr lang="en-US" sz="2600" dirty="0"/>
          </a:p>
        </p:txBody>
      </p:sp>
      <p:sp>
        <p:nvSpPr>
          <p:cNvPr id="33" name="Text 31"/>
          <p:cNvSpPr txBox="1"/>
          <p:nvPr/>
        </p:nvSpPr>
        <p:spPr>
          <a:xfrm>
            <a:off x="6976872" y="3749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gatherings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90388" y="301752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5390388" y="3154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B16"/>
                </a:solidFill>
              </a:rPr>
              <a:t>41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5390388" y="3749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803904" y="301752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FAF3DE"/>
          </a:solidFill>
          <a:ln w="12700">
            <a:solidFill>
              <a:srgbClr val="FAF3DE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3803904" y="3154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B16"/>
                </a:solidFill>
              </a:rPr>
              <a:t>11</a:t>
            </a:r>
            <a:endParaRPr lang="en-US" sz="2600" dirty="0"/>
          </a:p>
        </p:txBody>
      </p:sp>
      <p:sp>
        <p:nvSpPr>
          <p:cNvPr id="39" name="Text 37"/>
          <p:cNvSpPr txBox="1"/>
          <p:nvPr/>
        </p:nvSpPr>
        <p:spPr>
          <a:xfrm>
            <a:off x="3803904" y="3749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location_pings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217420" y="301752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 txBox="1"/>
          <p:nvPr/>
        </p:nvSpPr>
        <p:spPr>
          <a:xfrm>
            <a:off x="2217420" y="3154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B16"/>
                </a:solidFill>
              </a:rPr>
              <a:t>3</a:t>
            </a:r>
            <a:endParaRPr lang="en-US" sz="2600" dirty="0"/>
          </a:p>
        </p:txBody>
      </p:sp>
      <p:sp>
        <p:nvSpPr>
          <p:cNvPr id="42" name="Text 40"/>
          <p:cNvSpPr txBox="1"/>
          <p:nvPr/>
        </p:nvSpPr>
        <p:spPr>
          <a:xfrm>
            <a:off x="2217420" y="3749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0936" y="301752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FAF3DE"/>
          </a:solidFill>
          <a:ln w="12700">
            <a:solidFill>
              <a:srgbClr val="FAF3DE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 txBox="1"/>
          <p:nvPr/>
        </p:nvSpPr>
        <p:spPr>
          <a:xfrm>
            <a:off x="630936" y="3154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B16"/>
                </a:solidFill>
              </a:rPr>
              <a:t>4</a:t>
            </a:r>
            <a:endParaRPr lang="en-US" sz="2600" dirty="0"/>
          </a:p>
        </p:txBody>
      </p:sp>
      <p:sp>
        <p:nvSpPr>
          <p:cNvPr id="45" name="Text 43"/>
          <p:cNvSpPr txBox="1"/>
          <p:nvPr/>
        </p:nvSpPr>
        <p:spPr>
          <a:xfrm>
            <a:off x="630936" y="3749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trip_groups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149840" y="438912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 txBox="1"/>
          <p:nvPr/>
        </p:nvSpPr>
        <p:spPr>
          <a:xfrm>
            <a:off x="10149840" y="4526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B16"/>
                </a:solidFill>
              </a:rPr>
              <a:t>10</a:t>
            </a:r>
            <a:endParaRPr lang="en-US" sz="2600" dirty="0"/>
          </a:p>
        </p:txBody>
      </p:sp>
      <p:sp>
        <p:nvSpPr>
          <p:cNvPr id="48" name="Text 46"/>
          <p:cNvSpPr txBox="1"/>
          <p:nvPr/>
        </p:nvSpPr>
        <p:spPr>
          <a:xfrm>
            <a:off x="10149840" y="5120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563356" y="438912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FAF3DE"/>
          </a:solidFill>
          <a:ln w="12700">
            <a:solidFill>
              <a:srgbClr val="FAF3DE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 txBox="1"/>
          <p:nvPr/>
        </p:nvSpPr>
        <p:spPr>
          <a:xfrm>
            <a:off x="8563356" y="4526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B16"/>
                </a:solidFill>
              </a:rPr>
              <a:t>2</a:t>
            </a:r>
            <a:endParaRPr lang="en-US" sz="2600" dirty="0"/>
          </a:p>
        </p:txBody>
      </p:sp>
      <p:sp>
        <p:nvSpPr>
          <p:cNvPr id="51" name="Text 49"/>
          <p:cNvSpPr txBox="1"/>
          <p:nvPr/>
        </p:nvSpPr>
        <p:spPr>
          <a:xfrm>
            <a:off x="8563356" y="5120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sos_requests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976872" y="438912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 txBox="1"/>
          <p:nvPr/>
        </p:nvSpPr>
        <p:spPr>
          <a:xfrm>
            <a:off x="6976872" y="4526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B16"/>
                </a:solidFill>
              </a:rPr>
              <a:t>23</a:t>
            </a:r>
            <a:endParaRPr lang="en-US" sz="2600" dirty="0"/>
          </a:p>
        </p:txBody>
      </p:sp>
      <p:sp>
        <p:nvSpPr>
          <p:cNvPr id="54" name="Text 52"/>
          <p:cNvSpPr txBox="1"/>
          <p:nvPr/>
        </p:nvSpPr>
        <p:spPr>
          <a:xfrm>
            <a:off x="6976872" y="5120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390388" y="438912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FAF3DE"/>
          </a:solidFill>
          <a:ln w="12700">
            <a:solidFill>
              <a:srgbClr val="FAF3DE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 txBox="1"/>
          <p:nvPr/>
        </p:nvSpPr>
        <p:spPr>
          <a:xfrm>
            <a:off x="5390388" y="4526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B16"/>
                </a:solidFill>
              </a:rPr>
              <a:t>2</a:t>
            </a:r>
            <a:endParaRPr lang="en-US" sz="2600" dirty="0"/>
          </a:p>
        </p:txBody>
      </p:sp>
      <p:sp>
        <p:nvSpPr>
          <p:cNvPr id="57" name="Text 55"/>
          <p:cNvSpPr txBox="1"/>
          <p:nvPr/>
        </p:nvSpPr>
        <p:spPr>
          <a:xfrm>
            <a:off x="5390388" y="5120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broadcasts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803904" y="438912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 txBox="1"/>
          <p:nvPr/>
        </p:nvSpPr>
        <p:spPr>
          <a:xfrm>
            <a:off x="3803904" y="4526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B16"/>
                </a:solidFill>
              </a:rPr>
              <a:t>6</a:t>
            </a:r>
            <a:endParaRPr lang="en-US" sz="2600" dirty="0"/>
          </a:p>
        </p:txBody>
      </p:sp>
      <p:sp>
        <p:nvSpPr>
          <p:cNvPr id="60" name="Text 58"/>
          <p:cNvSpPr txBox="1"/>
          <p:nvPr/>
        </p:nvSpPr>
        <p:spPr>
          <a:xfrm>
            <a:off x="3803904" y="5120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ritual_reports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217420" y="438912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FAF3DE"/>
          </a:solidFill>
          <a:ln w="12700">
            <a:solidFill>
              <a:srgbClr val="FAF3DE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 txBox="1"/>
          <p:nvPr/>
        </p:nvSpPr>
        <p:spPr>
          <a:xfrm>
            <a:off x="2217420" y="4526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B16"/>
                </a:solidFill>
              </a:rPr>
              <a:t>8</a:t>
            </a:r>
            <a:endParaRPr lang="en-US" sz="2600" dirty="0"/>
          </a:p>
        </p:txBody>
      </p:sp>
      <p:sp>
        <p:nvSpPr>
          <p:cNvPr id="63" name="Text 61"/>
          <p:cNvSpPr txBox="1"/>
          <p:nvPr/>
        </p:nvSpPr>
        <p:spPr>
          <a:xfrm>
            <a:off x="2217420" y="5120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30936" y="438912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 txBox="1"/>
          <p:nvPr/>
        </p:nvSpPr>
        <p:spPr>
          <a:xfrm>
            <a:off x="630936" y="4526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B16"/>
                </a:solidFill>
              </a:rPr>
              <a:t>12</a:t>
            </a:r>
            <a:endParaRPr lang="en-US" sz="2600" dirty="0"/>
          </a:p>
        </p:txBody>
      </p:sp>
      <p:sp>
        <p:nvSpPr>
          <p:cNvPr id="66" name="Text 64"/>
          <p:cNvSpPr txBox="1"/>
          <p:nvPr/>
        </p:nvSpPr>
        <p:spPr>
          <a:xfrm>
            <a:off x="630936" y="5120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activity_log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564C"/>
                </a:solidFill>
              </a:rPr>
              <a:t>الجداول الجديدة مملوءة أيضًا: 4 أزواج رفقاء، 12 دواءً، 3 حدود مشاعر، 4 رسائل مترجمة إلى 9 ترجمات، 8 مفقودات، 8 أدلة أيام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56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2332A"/>
                </a:solidFill>
              </a:rPr>
              <a:t>الخطوات القادمة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B564C"/>
                </a:solidFill>
              </a:rPr>
              <a:t>ما بعد الإصدار 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3566160"/>
            <a:ext cx="9509760" cy="0"/>
          </a:xfrm>
          <a:prstGeom prst="line">
            <a:avLst/>
          </a:prstGeom>
          <a:noFill/>
          <a:ln w="19050">
            <a:solidFill>
              <a:srgbClr val="E4DCC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131552" y="3273552"/>
            <a:ext cx="585216" cy="585216"/>
          </a:xfrm>
          <a:prstGeom prst="ellipse">
            <a:avLst/>
          </a:prstGeom>
          <a:solidFill>
            <a:srgbClr val="12332A"/>
          </a:solidFill>
          <a:ln w="12700">
            <a:solidFill>
              <a:srgbClr val="12332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131552" y="32735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E1B16"/>
                </a:solidFill>
              </a:rPr>
              <a:t>تطبيق أندرويد وiOS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0" y="2514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5B564C"/>
                </a:solidFill>
              </a:rPr>
              <a:t>بناء نسخة الجوال من نفس كود Flutter مع صلاحية الموقع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525512" y="3273552"/>
            <a:ext cx="585216" cy="585216"/>
          </a:xfrm>
          <a:prstGeom prst="ellipse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525512" y="32735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4023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E1B16"/>
                </a:solidFill>
              </a:rPr>
              <a:t>Supabase Auth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4480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5B564C"/>
                </a:solidFill>
              </a:rPr>
              <a:t>نقل تسجيل الدخول إلى نظام المصادقة الرسمي بدل الجلسات الخاصة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19472" y="3273552"/>
            <a:ext cx="585216" cy="585216"/>
          </a:xfrm>
          <a:prstGeom prst="ellipse">
            <a:avLst/>
          </a:prstGeom>
          <a:solidFill>
            <a:srgbClr val="12332A"/>
          </a:solidFill>
          <a:ln w="12700">
            <a:solidFill>
              <a:srgbClr val="12332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4919472" y="32735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E1B16"/>
                </a:solidFill>
              </a:rPr>
              <a:t>طبقة بث لحظي (Realtime)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2514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5B564C"/>
                </a:solidFill>
              </a:rPr>
              <a:t>تحديث الخريطة والتنبيهات فورًا دون تحديث دوري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13432" y="3273552"/>
            <a:ext cx="585216" cy="585216"/>
          </a:xfrm>
          <a:prstGeom prst="ellipse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2313432" y="32735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023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E1B16"/>
                </a:solidFill>
              </a:rPr>
              <a:t>PostGIS والحدود الرسمية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4480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5B564C"/>
                </a:solidFill>
              </a:rPr>
              <a:t>حدود المشاعر الرسمية بدقة أعلى بدل التقريبية الحالية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56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29800" y="-685800"/>
            <a:ext cx="2651760" cy="2651760"/>
          </a:xfrm>
          <a:prstGeom prst="ellipse">
            <a:avLst/>
          </a:prstGeom>
          <a:ln w="15875">
            <a:solidFill>
              <a:srgbClr val="C9A24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332720" y="-182880"/>
            <a:ext cx="1645920" cy="1645920"/>
          </a:xfrm>
          <a:prstGeom prst="ellipse">
            <a:avLst/>
          </a:prstGeom>
          <a:ln w="15875">
            <a:solidFill>
              <a:srgbClr val="C9A2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3931920" y="23774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شكرًا لكم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3931920" y="3291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C9A24A"/>
                </a:solidFill>
              </a:rPr>
              <a:t>تطبيق وموقع وقاعدة بيانات متصلة، منشورة وتعمل فعليًا  —  عين الحملة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5120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9C2B6"/>
                </a:solidFill>
              </a:rPr>
              <a:t>الموقع والتطبيق:‏  </a:t>
            </a:r>
            <a:pPr rtl="1" algn="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ain-alhamla2.netlify.app</a:t>
            </a:r>
            <a:pPr rtl="1" algn="r" indent="0" marL="0">
              <a:spcAft>
                <a:spcPts val="400"/>
              </a:spcAft>
              <a:buNone/>
            </a:pPr>
            <a:endParaRPr lang="en-US" sz="1200" dirty="0"/>
          </a:p>
          <a:p>
            <a:pPr rtl="1" algn="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9C2B6"/>
                </a:solidFill>
              </a:rPr>
              <a:t>مخطط ERD‏:‏  </a:t>
            </a:r>
            <a:pPr rtl="1" algn="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dbdiagram.io/d/6aab2b53af7c3b0bd1fc3b78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n Alhamla">
  <a:themeElements>
    <a:clrScheme name="Ain Alhamla">
      <a:dk1>
        <a:srgbClr val="1E1B16"/>
      </a:dk1>
      <a:lt1>
        <a:srgbClr val="FFFFFF"/>
      </a:lt1>
      <a:dk2>
        <a:srgbClr val="12332A"/>
      </a:dk2>
      <a:lt2>
        <a:srgbClr val="FAF9F5"/>
      </a:lt2>
      <a:accent1>
        <a:srgbClr val="12332A"/>
      </a:accent1>
      <a:accent2>
        <a:srgbClr val="C9A24A"/>
      </a:accent2>
      <a:accent3>
        <a:srgbClr val="1E4D3D"/>
      </a:accent3>
      <a:accent4>
        <a:srgbClr val="B23B2E"/>
      </a:accent4>
      <a:accent5>
        <a:srgbClr val="EEF3EE"/>
      </a:accent5>
      <a:accent6>
        <a:srgbClr val="FAF3DE"/>
      </a:accent6>
      <a:hlink>
        <a:srgbClr val="1E4D3D"/>
      </a:hlink>
      <a:folHlink>
        <a:srgbClr val="5B564C"/>
      </a:folHlink>
    </a:clrScheme>
    <a:fontScheme name="Ain Alhaml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عين الحملة — العرض التقني v2.1</dc:title>
  <dc:subject>PptxGenJS Presentation</dc:subject>
  <dc:creator>فريق عين الحملة</dc:creator>
  <cp:lastModifiedBy>فريق عين الحملة</cp:lastModifiedBy>
  <cp:revision>1</cp:revision>
  <dcterms:created xsi:type="dcterms:W3CDTF">2026-10-19T22:50:43Z</dcterms:created>
  <dcterms:modified xsi:type="dcterms:W3CDTF">2026-10-19T22:50:43Z</dcterms:modified>
</cp:coreProperties>
</file>